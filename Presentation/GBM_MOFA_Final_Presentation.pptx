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Introduce yourself and the one-sentence framing: "This project applies Multi-Omics Factor Analysis, or MOFA, to a real glioblastoma patient cohort, integrating five different molecular layers from the same 96 patients to find shared axes of variation and test whether any of them predict survival."
Keep this to 20-30 seconds -- it's just orientation.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the medical stage. Say: "Glioblastoma is the most aggressive primary brain tumor in adults, with a median survival of only 12 to 15 months even with surgery, radiation, and chemotherapy. What makes it especially hard to treat is molecular heterogeneity -- tumors differ enormously from patient to patient in their EGFR status, MGMT methylation, and IDH mutation status, which is actually how tumors get classified into subtypes by Verhaak and colleagues in 2010."
End with the bridge sentence: "Because no single molecular layer captures this heterogeneity, we used a multi-omics approach that looks at five layers simultaneously."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research question slowly, it's the anchor for everything that follows. Then add: "The key word is 'jointly' -- we are not analyzing five separate datasets and comparing them afterward. We are using MOFA to find latent factors that are estimated simultaneously across all five layers, the same way PCA finds components in one dataset, but generalized to many."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"All data comes from the CPTAC pan-cancer glioblastoma cohort, made public through LinkedOmics -- this is the same cohort behind the 2021 Cancer Cell proteogenomics paper by Wang and colleagues. Importantly, all five layers come from the SAME 99 patients -- this is what makes it true multi-omics integration rather than just combining unrelated datasets."
Point out the N=96: "After matching samples across all five layers, our final analysis cohort was 96 patients." 
Mention clinical data briefly -- this is what we'll correlate factors against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quickly -- don't read every line. Group it verbally into three phases: "Steps 1 through 6 are quality control -- making sure every layer is clean, correctly transformed, and free of major outliers before anything else happens. Steps 7 and 8 are the two analytical cores of the project: a supervised differential expression analysis using limma, and the unsupervised MOFA integration. Steps 9 through 11 are interpretation -- turning statistical output into biology."
This slide exists so the audience has a map before you dive into results -- keep it under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"Before any modeling, each layer went through quality control. RNA-seq and miRNA were essentially complete. Proteomics and methylation had real missingness, which is expected for these platforms, and we handled it with a missingness filter plus KNN imputation."
Then spend real time on this specific figure: "Methylation deserves special mention. Beta values are proportions between 0 and 1 -- on the left you can see almost everything piled up near 0. That's a problem for linear models because variance isn't constant across that range. So instead of log2, we applied the M-value, or logit, transform -- log2 of beta over 1 minus beta -- which spreads that out into an unbounded, more symmetric distribution, shown on the right. This is the statistically correct input for methylation data, and it's a detail many pipelines get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ran PCA independently on each layer as a first outlier check, before any integration. RNA-seq and Proteomics -- top row -- look completely normal: diffuse clouds, no dominant structure, PC1 explains under 15% of variance in each. Methylation, bottom left, is the one to look at closely: PC1 alone explains 61.3% of variance, which is unusually high, and you can see why -- there are two to three extreme outlier points pulled far out from the main cluster. miRNA, bottom right, is mostly clean with a couple of milder outliers."
Flag this explicitly: "We treated this as a finding that needed investigation, not something to ignore -- I'll come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cross-checked the PCA finding two more independent ways. On the left, sample-sample correlation -- you can see clear red/orange blocks, meaning some samples correlate poorly with the rest of the cohort. On the right, hierarchical clustering makes it unambiguous: one sample splits off completely on its own at a height far above every other split in the tree."
This is the setup for a payoff later: "Keep this dendrogram in mind -- we'll come back to whether this outlier structure explains one of our MOFA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MOFA object right before training -- five stacked bars, one per view: Proteomics, Mutations, mRNA, miRNA, and Methylation, each with 96 samples and no missing segments, meaning every one of our 96 patients has complete data in all five views. The warning about duplicated feature names is expected and harmless -- MOFA automatically relabels a gene like TP53 as TP53_mRNA versus TP53_mutation when it appears in more than one view."
Brief technical note if asked: "Mutations get a Bernoulli likelihood since they're binary; the other four views use the default Gaussian likelihood."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often gets misread as "the DE analysis didn't work" -- correct that proactively. Say: "The only significant hit anywhere was EGFR itself, in RNA-seq, roughly 8-fold higher in EGFR-mutant tumors. That is exactly what we'd expect if our grouping variable is correct, and we treat it as a positive control validating the whole pipeline."
Then: "Zero significant hits in Proteomics, Methylation, and miRNA is a real, honest result, not a bug. With only 23 EGFR-mutant patients against 73 wildtype, this comparison is underpowered for genome-wide correction, and it's well documented in the original CPTAC-GBM paper that mRNA changes don't always propagate cleanly to the protein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directly at the single red dot: "That one point in red, far to the right, is EGFR. Everything else -- 32,634 other genes -- falls in the grey, non-significant zone. This clean, single-hit picture is exactly what a well-behaved positive control should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figure in the whole project -- take your time. Say: "The left heatmap shows, for each of our 10 factors, how much variance it explains in each of the five views. The right chart totals that up per view."
"Methylation dominates -- 86% of its total variance, concentrated almost entirely in Factor 1. Proteomics, at 36%, and miRNA, at 13%, are more evenly distributed across several factors, which turns out to matter a lot for how much we trust them. Mutations explains under 0.1% of variance anywhere -- essentially nothing, likely because with 96 samples and sparse binary calls per gene, there isn't enough signal density for MOFA to find structure there. We report that as a real limitation rather than hiding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"Rather than picking a factor because its variance looked big, we screened all ten factors against every clinical variable we had -- age, sex, EGFR status, mutation markers, and both survival measures. Four significant associations came out: Factor 1 with Age and with survival time; Factor 2 with Age; Factor 3 with the binary death outcome; and Factor 5 with EGFR mutation status."
"This heatmap is our roadmap for the rest of the talk -- we're going to walk through Factor 1, Factor 2, and Factor 3 in that order, because those are the ones the data itself told us to look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fit a Cox proportional hazards model regressing overall survival on all ten factor scores simultaneously, using the 87 patients with complete survival data. Factor 1 is the only one that reaches statistical significance -- hazard ratio 1.16, p equals 0.0014. That means for every one-unit increase in a patient's Factor 1 score, their instantaneous risk of death goes up by about 16 percent, holding everything else constant. No other factor came close to significance."
This is your strongest single number in the whole project -- say it clearly and let it land before moving to the next slide, which is the visual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"Visually, Factor 1 -- the teal point -- is the only one whose confidence interval clearly excludes a hazard ratio of 1. Everything else, in red, crosses the line, meaning we can't rule out no effect."
Mention the model fit honestly: "Overall model concordance was 0.619 -- modest but meaningfully above the 0.5 you'd get from random chance, so there's real, if not overwhelming, prognostic signal in this factor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Pivot the tone here: "Before we celebrate that p-value, we need to check something. Look at the Factor 1 panel here -- two points sit way out at 13 to 14, while literally every other sample, in both EGFR groups, clusters tightly between about minus 2 and plus 3. Factors 2, 3, and 4, right next to it for comparison, show nothing like this."
"This is the direct visual confirmation that Factor 1's huge methylation variance, and possibly its survival association, are disproportionately shaped by just two samples -- not a smooth, population-wide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dense slide -- narrate it as four short beats, not one long paragraph:
"mRNA -- top weights are almost entirely pseudogenes and unannotated loci, a classic RNA-degradation or technical-noise signature, not real biology.
Proteomics -- more plausible: MAML1, RAD51C, MAP3K11, real cancer-relevant genes.
Methylation -- notice nearly every gene sits at almost exactly the same maximal weight. That flat, saturated pattern is itself a signature of a small number of samples driving uniformly extreme values across many genes at once.
miRNA -- dominated by obscure, poorly characterized miRNAs, no coherent story, unlike a factor we'll see later."
Land the conclusion: "All four views point the same direction -- this looks technical, not biological."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had a specific biological hypothesis for these outliers: a rare, well-documented hypermethylated subtype of glioma called G-CIMP, associated with IDH mutation and, as a proxy marker, ATRX loss. So we tested it directly -- did our two outlier samples carry ATRX mutations?"
"They did not. Both are ATRX-wildtype, shown in red here. This hypothesis is not supported by our data."
This is important to say with confidence, not embarrassment: "We report this as an honest negative result. The actual driver of these outliers is still unresolved -- we didn't have IDH status available in this cohort's clinical file to test the more direct marker. That's a concrete, named limitation, not a hand-wave."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"we did rigorous science" slide -- say it plainly: "So we're left holding two things at once. Factor 1 is our strongest statistical result, and the age association makes real biological sense given known epigenetic aging effects. But four independent pieces of evidence -- PCA, correlation, clustering, and weight patterns -- all point toward this being disproportionately shaped by two or three samples."
"Our conclusion is not to throw this away, and not to oversell it either -- we present it as a flagged finding that needs one more analysis: refitting everything with those samples excluded to see if the association survives."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"Factor 2 is significantly associated with patient age. Its mRNA weights, left, are dominated by neuronal and synaptic genes -- CAMK2A, MAPT, the tau gene, VAMP2, CYP46A1, a brain-specific cholesterol gene. Its miRNA weights, right, include miR-21, the single best-documented oncomiR in glioma, and miR-124, a neuronal-differentiation miRNA frequently silenced in GBM."
Add the important nuance: "We want to flag something honest here -- a neuronal gene signature in bulk tumor RNA-seq commonly reflects tumor purity, meaning how much normal, non-tumor brain tissue got captured alongside the tumor in the biopsy, rather than pure tumor biology. We don't have a way to fully rule that out with this data, so we present both explanations rather than picking the more exciting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 build anticipation: "Now for the finding we're most confident in. Factor 3 doesn't have Factor 1's outlier problem, and instead of one omics layer telling a story, we have three, independently, all pointing the same direction. Let's walk through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"At the transcript level, Factor 3's top genes include IL13RA1, part of the interleukin-13 receptor signaling axis; RNASEL, an innate antiviral immune gene; NFATC2, a T-cell activation transcription factor; ACKR2, a chemokine-scavenging receptor; and MIR223HG, the host gene for an immune-associated microRNA."
Highlight IL13RA1 specifically: "IL13RA1 is worth calling out -- its receptor-family relative, IL13 receptor alpha 2, is a clinically validated CAR-T cell immunotherapy target in glioblastoma, published in the New England Journal of Medicine in 2016. We're careful to say our finding is IL13RA1, not IL13RA2 itself, but this places our result in a very active area of GBM immunotherapy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"At the protein level, this is a remarkably coherent list -- SMARCA4, PBRM1, and SMARCD1 are three separate subunits of the same protein complex, the SWI/SNF chromatin remodeling complex, one of the most important cancer-associated protein machines. Alongside those: EHMT1, EHMT2, and NSD3, histone methyltransferases; TRIM28, SIN3A, and MTA1, heterochromatin and transcriptional repressor complexes; and FANCI, a DNA repair gene."
"This is not a random gene list -- it's essentially a functional protein module for chromatin regulation, appearing together in an unsupervised, data-driven factor. That coherence is exactly the kind of signal MOFA is designed to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miRNA layer completes the picture. The top weights are dominated by the miR-17-92 cluster and its paralog, miR-106b-25 -- miR-17, miR-20a, miR-93, miR-106b, miR-25. This is one of the most extensively characterized oncogenic microRNA clusters in all of cancer biology, first described as a candidate human oncogene in Nature in 2005, and consistently implicated in proliferation and cell-cycle control since then. We also see the tumor-suppressive miR-181 family here, in the opposite direction."
"So to summarize Factor 3 across all three slides: chromatin regulation at the protein level, immune signaling at the transcript level, and a canonical proliferation-associated miRNA cluster -- three independent layers, one coherent theme."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summary slide for your best finding -- speak with confidence here. "Unlike Factor 1, Factor 3's strength doesn't rest on a single statistical test. It rests on three independent omics layers, measured by completely different technologies, agreeing on the same underlying biology: chromatin regulation, immune signaling, and proliferation. That convergence is the actual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this table row by row briefly -- it's meant to directly answer the question "are your results similar to published work, or novel?" Say: "Most of our findings replicate well-established biology, which is reassuring, not disappointing -- it validates the pipeline. The specific three-way convergence in Factor 3 is, to our knowledge, not something the original CPTAC paper reported in this form, since they didn't run MOFA on this cohort. And the ATRX test is a case where we explicitly checked a hypothesis from the literature and it didn't hold in our data -- also a legitimate, reportable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closing scientific statement -- deliver it slowly. "To conclude: we asked whether jointly modeling five omics layers reveals shared axes of heterogeneity in glioblastoma that relate to survival. The answer is yes, in two complementary ways. Factor 1 is our statistically strongest result but comes with an honestly-reported outlier caveat. Factor 3 is our most biologically convincing result, converging across three independent omics layers on chromatin regulation, immune signaling, and a canonical oncogenic microRNA cluster. Together, these findings are consistent with, and extend, the original CPTAC-GBM proteogenomic study using an independent, unsupervised multi-omic factorization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"If I had one more week, the single highest-value thing to do is the top one -- re-running the Cox model with the Factor 1 outliers excluded. That one analysis would let us resolve, rather than just flag, the project's biggest open question. Everything below that is genuine, valuable follow-up work but secondary to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only if asked, or summarize: "Seven references anchor this project — the CPTAC dataset paper, the MOFA methods paper, and five papers connecting specific factor findings to established glioma biology."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close. Invite questions and be ready to go back to the Factor 1 outlier slides or the Cox model slide -- those are the most likely to be challenged.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image" Target="../media/image-7-3.jpeg"/><Relationship Id="rId4" Type="http://schemas.openxmlformats.org/officeDocument/2006/relationships/image" Target="../media/image-7-4.jpe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jpe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jpe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image" Target="../media/image-17-2.jpeg"/><Relationship Id="rId3" Type="http://schemas.openxmlformats.org/officeDocument/2006/relationships/image" Target="../media/image-17-3.jpe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jpe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142"/>
        </a:solidFill>
      </p:bgPr>
    </p:bg>
    <p:spTree>
      <p:nvGrpSpPr>
        <p:cNvPr id="1" name=""/>
        <p:cNvGrpSpPr/>
        <p:nvPr/>
      </p:nvGrpSpPr>
      <p:grpSpPr>
        <a:xfrm>
          <a:off x="0" y="0"/>
          <a:ext cx="0" cy="0"/>
          <a:chOff x="0" y="0"/>
          <a:chExt cx="0" cy="0"/>
        </a:xfrm>
      </p:grpSpPr>
      <p:sp>
        <p:nvSpPr>
          <p:cNvPr id="2" name="Shape 0"/>
          <p:cNvSpPr/>
          <p:nvPr/>
        </p:nvSpPr>
        <p:spPr>
          <a:xfrm>
            <a:off x="9692640" y="-1645920"/>
            <a:ext cx="4572000" cy="4572000"/>
          </a:xfrm>
          <a:prstGeom prst="ellipse">
            <a:avLst/>
          </a:prstGeom>
          <a:solidFill>
            <a:srgbClr val="028090">
              <a:alpha val="20000"/>
            </a:srgbClr>
          </a:solidFill>
          <a:ln/>
        </p:spPr>
      </p:sp>
      <p:sp>
        <p:nvSpPr>
          <p:cNvPr id="3" name="Shape 1"/>
          <p:cNvSpPr/>
          <p:nvPr/>
        </p:nvSpPr>
        <p:spPr>
          <a:xfrm>
            <a:off x="-1371600" y="4389120"/>
            <a:ext cx="3657600" cy="3657600"/>
          </a:xfrm>
          <a:prstGeom prst="ellipse">
            <a:avLst/>
          </a:prstGeom>
          <a:solidFill>
            <a:srgbClr val="02C39A">
              <a:alpha val="15000"/>
            </a:srgbClr>
          </a:solidFill>
          <a:ln/>
        </p:spPr>
      </p:sp>
      <p:sp>
        <p:nvSpPr>
          <p:cNvPr id="4" name="Text 2"/>
          <p:cNvSpPr/>
          <p:nvPr/>
        </p:nvSpPr>
        <p:spPr>
          <a:xfrm>
            <a:off x="914400" y="2286000"/>
            <a:ext cx="10332720" cy="457200"/>
          </a:xfrm>
          <a:prstGeom prst="rect">
            <a:avLst/>
          </a:prstGeom>
          <a:noFill/>
          <a:ln/>
        </p:spPr>
        <p:txBody>
          <a:bodyPr wrap="square" rtlCol="0" anchor="ctr"/>
          <a:lstStyle/>
          <a:p>
            <a:pPr indent="0" marL="0">
              <a:buNone/>
            </a:pPr>
            <a:r>
              <a:rPr lang="en-US" sz="1600" b="1" spc="300" kern="0" dirty="0">
                <a:solidFill>
                  <a:srgbClr val="02C39A"/>
                </a:solidFill>
                <a:latin typeface="Calibri" pitchFamily="34" charset="0"/>
                <a:ea typeface="Calibri" pitchFamily="34" charset="-122"/>
                <a:cs typeface="Calibri" pitchFamily="34" charset="-120"/>
              </a:rPr>
              <a:t>MULTI-OMICS FACTOR ANALYSIS</a:t>
            </a:r>
            <a:endParaRPr lang="en-US" sz="1600" dirty="0"/>
          </a:p>
        </p:txBody>
      </p:sp>
      <p:sp>
        <p:nvSpPr>
          <p:cNvPr id="5" name="Text 3"/>
          <p:cNvSpPr/>
          <p:nvPr/>
        </p:nvSpPr>
        <p:spPr>
          <a:xfrm>
            <a:off x="914400" y="2697480"/>
            <a:ext cx="10332720" cy="100584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of Glioblastoma</a:t>
            </a:r>
            <a:endParaRPr lang="en-US" sz="4400" dirty="0"/>
          </a:p>
        </p:txBody>
      </p:sp>
      <p:sp>
        <p:nvSpPr>
          <p:cNvPr id="6" name="Text 4"/>
          <p:cNvSpPr/>
          <p:nvPr/>
        </p:nvSpPr>
        <p:spPr>
          <a:xfrm>
            <a:off x="914400" y="3611880"/>
            <a:ext cx="9601200" cy="731520"/>
          </a:xfrm>
          <a:prstGeom prst="rect">
            <a:avLst/>
          </a:prstGeom>
          <a:noFill/>
          <a:ln/>
        </p:spPr>
        <p:txBody>
          <a:bodyPr wrap="square" rtlCol="0" anchor="ctr"/>
          <a:lstStyle/>
          <a:p>
            <a:pPr indent="0" marL="0">
              <a:buNone/>
            </a:pPr>
            <a:r>
              <a:rPr lang="en-US" sz="1500" i="1" dirty="0">
                <a:solidFill>
                  <a:srgbClr val="C7D9DE"/>
                </a:solidFill>
                <a:latin typeface="Calibri" pitchFamily="34" charset="0"/>
                <a:ea typeface="Calibri" pitchFamily="34" charset="-122"/>
                <a:cs typeface="Calibri" pitchFamily="34" charset="-120"/>
              </a:rPr>
              <a:t>Integrating transcriptomic, proteomic, epigenomic, and microRNA profiles</a:t>
            </a:r>
            <a:endParaRPr lang="en-US" sz="1500" dirty="0"/>
          </a:p>
          <a:p>
            <a:pPr indent="0" marL="0">
              <a:buNone/>
            </a:pPr>
            <a:r>
              <a:rPr lang="en-US" sz="1500" i="1" dirty="0">
                <a:solidFill>
                  <a:srgbClr val="C7D9DE"/>
                </a:solidFill>
                <a:latin typeface="Calibri" pitchFamily="34" charset="0"/>
                <a:ea typeface="Calibri" pitchFamily="34" charset="-122"/>
                <a:cs typeface="Calibri" pitchFamily="34" charset="-120"/>
              </a:rPr>
              <a:t>to uncover shared axes of molecular heterogeneity and survival</a:t>
            </a:r>
            <a:endParaRPr lang="en-US" sz="1500" dirty="0"/>
          </a:p>
        </p:txBody>
      </p:sp>
      <p:sp>
        <p:nvSpPr>
          <p:cNvPr id="7" name="Text 5"/>
          <p:cNvSpPr/>
          <p:nvPr/>
        </p:nvSpPr>
        <p:spPr>
          <a:xfrm>
            <a:off x="914400" y="5120640"/>
            <a:ext cx="54864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Merna Amr Hassan</a:t>
            </a:r>
            <a:endParaRPr lang="en-US" sz="1500" dirty="0"/>
          </a:p>
        </p:txBody>
      </p:sp>
      <p:sp>
        <p:nvSpPr>
          <p:cNvPr id="8" name="Text 6"/>
          <p:cNvSpPr/>
          <p:nvPr/>
        </p:nvSpPr>
        <p:spPr>
          <a:xfrm>
            <a:off x="914400" y="5486400"/>
            <a:ext cx="5486400" cy="365760"/>
          </a:xfrm>
          <a:prstGeom prst="rect">
            <a:avLst/>
          </a:prstGeom>
          <a:noFill/>
          <a:ln/>
        </p:spPr>
        <p:txBody>
          <a:bodyPr wrap="square" rtlCol="0" anchor="ctr"/>
          <a:lstStyle/>
          <a:p>
            <a:pPr indent="0" marL="0">
              <a:buNone/>
            </a:pPr>
            <a:r>
              <a:rPr lang="en-US" sz="1300" dirty="0">
                <a:solidFill>
                  <a:srgbClr val="9FB4BC"/>
                </a:solidFill>
                <a:latin typeface="Calibri" pitchFamily="34" charset="0"/>
                <a:ea typeface="Calibri" pitchFamily="34" charset="-122"/>
                <a:cs typeface="Calibri" pitchFamily="34" charset="-120"/>
              </a:rPr>
              <a:t>Supervised by Dr. Asmaa  ·  Dr. Mohamed Hamed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28090"/>
          </a:solidFill>
          <a:ln/>
        </p:spPr>
      </p:sp>
      <p:sp>
        <p:nvSpPr>
          <p:cNvPr id="3" name="Text 1"/>
          <p:cNvSpPr/>
          <p:nvPr/>
        </p:nvSpPr>
        <p:spPr>
          <a:xfrm>
            <a:off x="457200" y="411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p:nvPr/>
        </p:nvSpPr>
        <p:spPr>
          <a:xfrm>
            <a:off x="1051560" y="320040"/>
            <a:ext cx="10607040" cy="777240"/>
          </a:xfrm>
          <a:prstGeom prst="rect">
            <a:avLst/>
          </a:prstGeom>
          <a:noFill/>
          <a:ln/>
        </p:spPr>
        <p:txBody>
          <a:bodyPr wrap="square" lIns="0" tIns="0" rIns="0" bIns="0" rtlCol="0" anchor="ctr"/>
          <a:lstStyle/>
          <a:p>
            <a:pPr algn="l" indent="0" marL="0">
              <a:buNone/>
            </a:pPr>
            <a:r>
              <a:rPr lang="en-US" sz="3000" b="1" dirty="0">
                <a:solidFill>
                  <a:srgbClr val="0B3142"/>
                </a:solidFill>
                <a:latin typeface="Cambria" pitchFamily="34" charset="0"/>
                <a:ea typeface="Cambria" pitchFamily="34" charset="-122"/>
                <a:cs typeface="Cambria" pitchFamily="34" charset="-120"/>
              </a:rPr>
              <a:t>What is Glioblastoma?</a:t>
            </a:r>
            <a:endParaRPr lang="en-US" sz="3000" dirty="0"/>
          </a:p>
        </p:txBody>
      </p:sp>
      <p:sp>
        <p:nvSpPr>
          <p:cNvPr id="5" name="Shape 3"/>
          <p:cNvSpPr/>
          <p:nvPr/>
        </p:nvSpPr>
        <p:spPr>
          <a:xfrm>
            <a:off x="822960" y="1371600"/>
            <a:ext cx="3246120" cy="1554480"/>
          </a:xfrm>
          <a:prstGeom prst="roundRect">
            <a:avLst>
              <a:gd name="adj" fmla="val 4706"/>
            </a:avLst>
          </a:prstGeom>
          <a:solidFill>
            <a:srgbClr val="F4F7F8"/>
          </a:solidFill>
          <a:ln/>
        </p:spPr>
      </p:sp>
      <p:sp>
        <p:nvSpPr>
          <p:cNvPr id="6" name="Text 4"/>
          <p:cNvSpPr/>
          <p:nvPr/>
        </p:nvSpPr>
        <p:spPr>
          <a:xfrm>
            <a:off x="822960" y="1508760"/>
            <a:ext cx="3246120" cy="640080"/>
          </a:xfrm>
          <a:prstGeom prst="rect">
            <a:avLst/>
          </a:prstGeom>
          <a:noFill/>
          <a:ln/>
        </p:spPr>
        <p:txBody>
          <a:bodyPr wrap="square" rtlCol="0" anchor="ctr"/>
          <a:lstStyle/>
          <a:p>
            <a:pPr algn="ctr" indent="0" marL="0">
              <a:buNone/>
            </a:pPr>
            <a:r>
              <a:rPr lang="en-US" sz="3000" b="1" dirty="0">
                <a:solidFill>
                  <a:srgbClr val="028090"/>
                </a:solidFill>
                <a:latin typeface="Cambria" pitchFamily="34" charset="0"/>
                <a:ea typeface="Cambria" pitchFamily="34" charset="-122"/>
                <a:cs typeface="Cambria" pitchFamily="34" charset="-120"/>
              </a:rPr>
              <a:t>#1</a:t>
            </a:r>
            <a:endParaRPr lang="en-US" sz="3000" dirty="0"/>
          </a:p>
        </p:txBody>
      </p:sp>
      <p:sp>
        <p:nvSpPr>
          <p:cNvPr id="7" name="Text 5"/>
          <p:cNvSpPr/>
          <p:nvPr/>
        </p:nvSpPr>
        <p:spPr>
          <a:xfrm>
            <a:off x="1005840" y="2148840"/>
            <a:ext cx="2880360" cy="685800"/>
          </a:xfrm>
          <a:prstGeom prst="rect">
            <a:avLst/>
          </a:prstGeom>
          <a:noFill/>
          <a:ln/>
        </p:spPr>
        <p:txBody>
          <a:bodyPr wrap="square" rtlCol="0" anchor="ctr"/>
          <a:lstStyle/>
          <a:p>
            <a:pPr algn="ctr" indent="0" marL="0">
              <a:buNone/>
            </a:pPr>
            <a:r>
              <a:rPr lang="en-US" sz="1200" dirty="0">
                <a:solidFill>
                  <a:srgbClr val="5B6770"/>
                </a:solidFill>
                <a:latin typeface="Calibri" pitchFamily="34" charset="0"/>
                <a:ea typeface="Calibri" pitchFamily="34" charset="-122"/>
                <a:cs typeface="Calibri" pitchFamily="34" charset="-120"/>
              </a:rPr>
              <a:t>Most common malignant</a:t>
            </a:r>
            <a:endParaRPr lang="en-US" sz="1200" dirty="0"/>
          </a:p>
          <a:p>
            <a:pPr algn="ctr" indent="0" marL="0">
              <a:buNone/>
            </a:pPr>
            <a:r>
              <a:rPr lang="en-US" sz="1200" dirty="0">
                <a:solidFill>
                  <a:srgbClr val="5B6770"/>
                </a:solidFill>
                <a:latin typeface="Calibri" pitchFamily="34" charset="0"/>
                <a:ea typeface="Calibri" pitchFamily="34" charset="-122"/>
                <a:cs typeface="Calibri" pitchFamily="34" charset="-120"/>
              </a:rPr>
              <a:t>primary brain tumor in adults</a:t>
            </a:r>
            <a:endParaRPr lang="en-US" sz="1200" dirty="0"/>
          </a:p>
        </p:txBody>
      </p:sp>
      <p:sp>
        <p:nvSpPr>
          <p:cNvPr id="8" name="Shape 6"/>
          <p:cNvSpPr/>
          <p:nvPr/>
        </p:nvSpPr>
        <p:spPr>
          <a:xfrm>
            <a:off x="4251960" y="1371600"/>
            <a:ext cx="3246120" cy="1554480"/>
          </a:xfrm>
          <a:prstGeom prst="roundRect">
            <a:avLst>
              <a:gd name="adj" fmla="val 4706"/>
            </a:avLst>
          </a:prstGeom>
          <a:solidFill>
            <a:srgbClr val="F4F7F8"/>
          </a:solidFill>
          <a:ln/>
        </p:spPr>
      </p:sp>
      <p:sp>
        <p:nvSpPr>
          <p:cNvPr id="9" name="Text 7"/>
          <p:cNvSpPr/>
          <p:nvPr/>
        </p:nvSpPr>
        <p:spPr>
          <a:xfrm>
            <a:off x="4251960" y="1508760"/>
            <a:ext cx="3246120" cy="640080"/>
          </a:xfrm>
          <a:prstGeom prst="rect">
            <a:avLst/>
          </a:prstGeom>
          <a:noFill/>
          <a:ln/>
        </p:spPr>
        <p:txBody>
          <a:bodyPr wrap="square" rtlCol="0" anchor="ctr"/>
          <a:lstStyle/>
          <a:p>
            <a:pPr algn="ctr" indent="0" marL="0">
              <a:buNone/>
            </a:pPr>
            <a:r>
              <a:rPr lang="en-US" sz="3000" b="1" dirty="0">
                <a:solidFill>
                  <a:srgbClr val="028090"/>
                </a:solidFill>
                <a:latin typeface="Cambria" pitchFamily="34" charset="0"/>
                <a:ea typeface="Cambria" pitchFamily="34" charset="-122"/>
                <a:cs typeface="Cambria" pitchFamily="34" charset="-120"/>
              </a:rPr>
              <a:t>12–15 mo</a:t>
            </a:r>
            <a:endParaRPr lang="en-US" sz="3000" dirty="0"/>
          </a:p>
        </p:txBody>
      </p:sp>
      <p:sp>
        <p:nvSpPr>
          <p:cNvPr id="10" name="Text 8"/>
          <p:cNvSpPr/>
          <p:nvPr/>
        </p:nvSpPr>
        <p:spPr>
          <a:xfrm>
            <a:off x="4434840" y="2148840"/>
            <a:ext cx="2880360" cy="685800"/>
          </a:xfrm>
          <a:prstGeom prst="rect">
            <a:avLst/>
          </a:prstGeom>
          <a:noFill/>
          <a:ln/>
        </p:spPr>
        <p:txBody>
          <a:bodyPr wrap="square" rtlCol="0" anchor="ctr"/>
          <a:lstStyle/>
          <a:p>
            <a:pPr algn="ctr" indent="0" marL="0">
              <a:buNone/>
            </a:pPr>
            <a:r>
              <a:rPr lang="en-US" sz="1200" dirty="0">
                <a:solidFill>
                  <a:srgbClr val="5B6770"/>
                </a:solidFill>
                <a:latin typeface="Calibri" pitchFamily="34" charset="0"/>
                <a:ea typeface="Calibri" pitchFamily="34" charset="-122"/>
                <a:cs typeface="Calibri" pitchFamily="34" charset="-120"/>
              </a:rPr>
              <a:t>Median overall survival</a:t>
            </a:r>
            <a:endParaRPr lang="en-US" sz="1200" dirty="0"/>
          </a:p>
          <a:p>
            <a:pPr algn="ctr" indent="0" marL="0">
              <a:buNone/>
            </a:pPr>
            <a:r>
              <a:rPr lang="en-US" sz="1200" dirty="0">
                <a:solidFill>
                  <a:srgbClr val="5B6770"/>
                </a:solidFill>
                <a:latin typeface="Calibri" pitchFamily="34" charset="0"/>
                <a:ea typeface="Calibri" pitchFamily="34" charset="-122"/>
                <a:cs typeface="Calibri" pitchFamily="34" charset="-120"/>
              </a:rPr>
              <a:t>despite standard treatment</a:t>
            </a:r>
            <a:endParaRPr lang="en-US" sz="1200" dirty="0"/>
          </a:p>
        </p:txBody>
      </p:sp>
      <p:sp>
        <p:nvSpPr>
          <p:cNvPr id="11" name="Shape 9"/>
          <p:cNvSpPr/>
          <p:nvPr/>
        </p:nvSpPr>
        <p:spPr>
          <a:xfrm>
            <a:off x="7680960" y="1371600"/>
            <a:ext cx="3246120" cy="1554480"/>
          </a:xfrm>
          <a:prstGeom prst="roundRect">
            <a:avLst>
              <a:gd name="adj" fmla="val 4706"/>
            </a:avLst>
          </a:prstGeom>
          <a:solidFill>
            <a:srgbClr val="F4F7F8"/>
          </a:solidFill>
          <a:ln/>
        </p:spPr>
      </p:sp>
      <p:sp>
        <p:nvSpPr>
          <p:cNvPr id="12" name="Text 10"/>
          <p:cNvSpPr/>
          <p:nvPr/>
        </p:nvSpPr>
        <p:spPr>
          <a:xfrm>
            <a:off x="7680960" y="1508760"/>
            <a:ext cx="3246120" cy="640080"/>
          </a:xfrm>
          <a:prstGeom prst="rect">
            <a:avLst/>
          </a:prstGeom>
          <a:noFill/>
          <a:ln/>
        </p:spPr>
        <p:txBody>
          <a:bodyPr wrap="square" rtlCol="0" anchor="ctr"/>
          <a:lstStyle/>
          <a:p>
            <a:pPr algn="ctr" indent="0" marL="0">
              <a:buNone/>
            </a:pPr>
            <a:r>
              <a:rPr lang="en-US" sz="3000" b="1" dirty="0">
                <a:solidFill>
                  <a:srgbClr val="028090"/>
                </a:solidFill>
                <a:latin typeface="Cambria" pitchFamily="34" charset="0"/>
                <a:ea typeface="Cambria" pitchFamily="34" charset="-122"/>
                <a:cs typeface="Cambria" pitchFamily="34" charset="-120"/>
              </a:rPr>
              <a:t>~40%</a:t>
            </a:r>
            <a:endParaRPr lang="en-US" sz="3000" dirty="0"/>
          </a:p>
        </p:txBody>
      </p:sp>
      <p:sp>
        <p:nvSpPr>
          <p:cNvPr id="13" name="Text 11"/>
          <p:cNvSpPr/>
          <p:nvPr/>
        </p:nvSpPr>
        <p:spPr>
          <a:xfrm>
            <a:off x="7863840" y="2148840"/>
            <a:ext cx="2880360" cy="685800"/>
          </a:xfrm>
          <a:prstGeom prst="rect">
            <a:avLst/>
          </a:prstGeom>
          <a:noFill/>
          <a:ln/>
        </p:spPr>
        <p:txBody>
          <a:bodyPr wrap="square" rtlCol="0" anchor="ctr"/>
          <a:lstStyle/>
          <a:p>
            <a:pPr algn="ctr" indent="0" marL="0">
              <a:buNone/>
            </a:pPr>
            <a:r>
              <a:rPr lang="en-US" sz="1200" dirty="0">
                <a:solidFill>
                  <a:srgbClr val="5B6770"/>
                </a:solidFill>
                <a:latin typeface="Calibri" pitchFamily="34" charset="0"/>
                <a:ea typeface="Calibri" pitchFamily="34" charset="-122"/>
                <a:cs typeface="Calibri" pitchFamily="34" charset="-120"/>
              </a:rPr>
              <a:t>of tumors carry EGFR</a:t>
            </a:r>
            <a:endParaRPr lang="en-US" sz="1200" dirty="0"/>
          </a:p>
          <a:p>
            <a:pPr algn="ctr" indent="0" marL="0">
              <a:buNone/>
            </a:pPr>
            <a:r>
              <a:rPr lang="en-US" sz="1200" dirty="0">
                <a:solidFill>
                  <a:srgbClr val="5B6770"/>
                </a:solidFill>
                <a:latin typeface="Calibri" pitchFamily="34" charset="0"/>
                <a:ea typeface="Calibri" pitchFamily="34" charset="-122"/>
                <a:cs typeface="Calibri" pitchFamily="34" charset="-120"/>
              </a:rPr>
              <a:t>amplification/mutation</a:t>
            </a:r>
            <a:endParaRPr lang="en-US" sz="1200" dirty="0"/>
          </a:p>
        </p:txBody>
      </p:sp>
      <p:sp>
        <p:nvSpPr>
          <p:cNvPr id="14" name="Text 12"/>
          <p:cNvSpPr/>
          <p:nvPr/>
        </p:nvSpPr>
        <p:spPr>
          <a:xfrm>
            <a:off x="822960" y="3246120"/>
            <a:ext cx="10515600" cy="2926080"/>
          </a:xfrm>
          <a:prstGeom prst="rect">
            <a:avLst/>
          </a:prstGeom>
          <a:noFill/>
          <a:ln/>
        </p:spPr>
        <p:txBody>
          <a:bodyPr wrap="square" rtlCol="0" anchor="ctr"/>
          <a:lstStyle/>
          <a:p>
            <a:pPr marL="342900" indent="-3429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Highly molecularly heterogeneous — no two tumors are alike at the genomic or transcriptomic level</a:t>
            </a:r>
            <a:endParaRPr lang="en-US" sz="1500" dirty="0"/>
          </a:p>
          <a:p>
            <a:pPr marL="342900" indent="-3429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Key clinically relevant markers: EGFR amplification, MGMT promoter methylation (predicts chemo response), IDH mutation status</a:t>
            </a:r>
            <a:endParaRPr lang="en-US" sz="1500" dirty="0"/>
          </a:p>
          <a:p>
            <a:pPr marL="342900" indent="-3429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Distinct transcriptional subtypes: Proneural, Classical, Mesenchymal (Verhaak et al., 2010)</a:t>
            </a:r>
            <a:endParaRPr lang="en-US" sz="1500" dirty="0"/>
          </a:p>
          <a:p>
            <a:pPr marL="342900" indent="-3429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This heterogeneity is exactly why a multi-omic approach is needed — no single molecular layer tells the full story</a:t>
            </a:r>
            <a:endParaRPr lang="en-US" sz="1500" dirty="0"/>
          </a:p>
        </p:txBody>
      </p:sp>
      <p:sp>
        <p:nvSpPr>
          <p:cNvPr id="15" name="Text 13"/>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770"/>
                </a:solidFill>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3142"/>
        </a:solidFill>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FFFFFF"/>
          </a:solidFill>
          <a:ln/>
        </p:spPr>
      </p:sp>
      <p:sp>
        <p:nvSpPr>
          <p:cNvPr id="3" name="Text 1"/>
          <p:cNvSpPr/>
          <p:nvPr/>
        </p:nvSpPr>
        <p:spPr>
          <a:xfrm>
            <a:off x="457200" y="411480"/>
            <a:ext cx="457200" cy="457200"/>
          </a:xfrm>
          <a:prstGeom prst="rect">
            <a:avLst/>
          </a:prstGeom>
          <a:noFill/>
          <a:ln/>
        </p:spPr>
        <p:txBody>
          <a:bodyPr wrap="square" lIns="0" tIns="0" rIns="0" bIns="0" rtlCol="0" anchor="ctr"/>
          <a:lstStyle/>
          <a:p>
            <a:pPr algn="ctr" indent="0" marL="0">
              <a:buNone/>
            </a:pPr>
            <a:r>
              <a:rPr lang="en-US" sz="1600" b="1" dirty="0">
                <a:solidFill>
                  <a:srgbClr val="0B3142"/>
                </a:solidFill>
                <a:latin typeface="Calibri" pitchFamily="34" charset="0"/>
                <a:ea typeface="Calibri" pitchFamily="34" charset="-122"/>
                <a:cs typeface="Calibri" pitchFamily="34" charset="-120"/>
              </a:rPr>
              <a:t>2</a:t>
            </a:r>
            <a:endParaRPr lang="en-US" sz="1600" dirty="0"/>
          </a:p>
        </p:txBody>
      </p:sp>
      <p:sp>
        <p:nvSpPr>
          <p:cNvPr id="4" name="Text 2"/>
          <p:cNvSpPr/>
          <p:nvPr/>
        </p:nvSpPr>
        <p:spPr>
          <a:xfrm>
            <a:off x="1051560" y="457200"/>
            <a:ext cx="10058400" cy="640080"/>
          </a:xfrm>
          <a:prstGeom prst="rect">
            <a:avLst/>
          </a:prstGeom>
          <a:noFill/>
          <a:ln/>
        </p:spPr>
        <p:txBody>
          <a:bodyPr wrap="square" rtlCol="0" anchor="ctr"/>
          <a:lstStyle/>
          <a:p>
            <a:pPr indent="0" marL="0">
              <a:buNone/>
            </a:pPr>
            <a:r>
              <a:rPr lang="en-US" sz="2600" b="1" dirty="0">
                <a:solidFill>
                  <a:srgbClr val="02C39A"/>
                </a:solidFill>
                <a:latin typeface="Cambria" pitchFamily="34" charset="0"/>
                <a:ea typeface="Cambria" pitchFamily="34" charset="-122"/>
                <a:cs typeface="Cambria" pitchFamily="34" charset="-120"/>
              </a:rPr>
              <a:t>Research Question</a:t>
            </a:r>
            <a:endParaRPr lang="en-US" sz="2600" dirty="0"/>
          </a:p>
        </p:txBody>
      </p:sp>
      <p:sp>
        <p:nvSpPr>
          <p:cNvPr id="5" name="Shape 3"/>
          <p:cNvSpPr/>
          <p:nvPr/>
        </p:nvSpPr>
        <p:spPr>
          <a:xfrm>
            <a:off x="1188720" y="1920240"/>
            <a:ext cx="9784080" cy="2926080"/>
          </a:xfrm>
          <a:prstGeom prst="roundRect">
            <a:avLst>
              <a:gd name="adj" fmla="val 3125"/>
            </a:avLst>
          </a:prstGeom>
          <a:solidFill>
            <a:srgbClr val="10424F"/>
          </a:solidFill>
          <a:ln w="12700">
            <a:solidFill>
              <a:srgbClr val="028090"/>
            </a:solidFill>
            <a:prstDash val="solid"/>
          </a:ln>
        </p:spPr>
      </p:sp>
      <p:sp>
        <p:nvSpPr>
          <p:cNvPr id="6" name="Text 4"/>
          <p:cNvSpPr/>
          <p:nvPr/>
        </p:nvSpPr>
        <p:spPr>
          <a:xfrm>
            <a:off x="1645920" y="2194560"/>
            <a:ext cx="8869680" cy="2468880"/>
          </a:xfrm>
          <a:prstGeom prst="rect">
            <a:avLst/>
          </a:prstGeom>
          <a:noFill/>
          <a:ln/>
        </p:spPr>
        <p:txBody>
          <a:bodyPr wrap="square" rtlCol="0" anchor="ctr"/>
          <a:lstStyle/>
          <a:p>
            <a:pPr algn="l" indent="0" marL="0">
              <a:buNone/>
            </a:pPr>
            <a:r>
              <a:rPr lang="en-US" sz="2100" i="1" dirty="0">
                <a:solidFill>
                  <a:srgbClr val="FFFFFF"/>
                </a:solidFill>
                <a:latin typeface="Cambria" pitchFamily="34" charset="0"/>
                <a:ea typeface="Cambria" pitchFamily="34" charset="-122"/>
                <a:cs typeface="Cambria" pitchFamily="34" charset="-120"/>
              </a:rPr>
              <a:t>What are the major axes of molecular heterogeneity in glioblastoma when jointly modeled across the transcriptome, proteome, epigenome, and microRNAome — and do any of the resulting latent factors correlate with patient survival or known clinical/molecular subtypes?</a:t>
            </a:r>
            <a:endParaRPr lang="en-US" sz="2100" dirty="0"/>
          </a:p>
        </p:txBody>
      </p:sp>
      <p:sp>
        <p:nvSpPr>
          <p:cNvPr id="7" name="Text 5"/>
          <p:cNvSpPr/>
          <p:nvPr/>
        </p:nvSpPr>
        <p:spPr>
          <a:xfrm>
            <a:off x="1188720" y="5120640"/>
            <a:ext cx="9784080" cy="548640"/>
          </a:xfrm>
          <a:prstGeom prst="rect">
            <a:avLst/>
          </a:prstGeom>
          <a:noFill/>
          <a:ln/>
        </p:spPr>
        <p:txBody>
          <a:bodyPr wrap="square" rtlCol="0" anchor="ctr"/>
          <a:lstStyle/>
          <a:p>
            <a:pPr algn="ctr" indent="0" marL="0">
              <a:buNone/>
            </a:pPr>
            <a:r>
              <a:rPr lang="en-US" sz="1300" i="1" dirty="0">
                <a:solidFill>
                  <a:srgbClr val="9FB4BC"/>
                </a:solidFill>
                <a:latin typeface="Calibri" pitchFamily="34" charset="0"/>
                <a:ea typeface="Calibri" pitchFamily="34" charset="-122"/>
                <a:cs typeface="Calibri" pitchFamily="34" charset="-120"/>
              </a:rPr>
              <a:t>Approach: Multi-Omics Factor Analysis (MOFA) — unsupervised, joint factorization across 5 matched omics views, not simple data concatenation</a:t>
            </a:r>
            <a:endParaRPr lang="en-US" sz="1300" dirty="0"/>
          </a:p>
        </p:txBody>
      </p:sp>
      <p:sp>
        <p:nvSpPr>
          <p:cNvPr id="8" name="Text 6"/>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770"/>
                </a:solidFill>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28090"/>
          </a:solidFill>
          <a:ln/>
        </p:spPr>
      </p:sp>
      <p:sp>
        <p:nvSpPr>
          <p:cNvPr id="3" name="Text 1"/>
          <p:cNvSpPr/>
          <p:nvPr/>
        </p:nvSpPr>
        <p:spPr>
          <a:xfrm>
            <a:off x="457200" y="411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p:nvPr/>
        </p:nvSpPr>
        <p:spPr>
          <a:xfrm>
            <a:off x="1051560" y="320040"/>
            <a:ext cx="10607040" cy="777240"/>
          </a:xfrm>
          <a:prstGeom prst="rect">
            <a:avLst/>
          </a:prstGeom>
          <a:noFill/>
          <a:ln/>
        </p:spPr>
        <p:txBody>
          <a:bodyPr wrap="square" lIns="0" tIns="0" rIns="0" bIns="0" rtlCol="0" anchor="ctr"/>
          <a:lstStyle/>
          <a:p>
            <a:pPr algn="l" indent="0" marL="0">
              <a:buNone/>
            </a:pPr>
            <a:r>
              <a:rPr lang="en-US" sz="3000" b="1" dirty="0">
                <a:solidFill>
                  <a:srgbClr val="0B3142"/>
                </a:solidFill>
                <a:latin typeface="Cambria" pitchFamily="34" charset="0"/>
                <a:ea typeface="Cambria" pitchFamily="34" charset="-122"/>
                <a:cs typeface="Cambria" pitchFamily="34" charset="-120"/>
              </a:rPr>
              <a:t>Dataset</a:t>
            </a:r>
            <a:endParaRPr lang="en-US" sz="3000" dirty="0"/>
          </a:p>
        </p:txBody>
      </p:sp>
      <p:sp>
        <p:nvSpPr>
          <p:cNvPr id="5" name="Text 3"/>
          <p:cNvSpPr/>
          <p:nvPr/>
        </p:nvSpPr>
        <p:spPr>
          <a:xfrm>
            <a:off x="822960" y="1143000"/>
            <a:ext cx="10058400" cy="365760"/>
          </a:xfrm>
          <a:prstGeom prst="rect">
            <a:avLst/>
          </a:prstGeom>
          <a:noFill/>
          <a:ln/>
        </p:spPr>
        <p:txBody>
          <a:bodyPr wrap="square" rtlCol="0" anchor="ctr"/>
          <a:lstStyle/>
          <a:p>
            <a:pPr indent="0" marL="0">
              <a:buNone/>
            </a:pPr>
            <a:r>
              <a:rPr lang="en-US" sz="1500" b="1" dirty="0">
                <a:solidFill>
                  <a:srgbClr val="028090"/>
                </a:solidFill>
                <a:latin typeface="Calibri" pitchFamily="34" charset="0"/>
                <a:ea typeface="Calibri" pitchFamily="34" charset="-122"/>
                <a:cs typeface="Calibri" pitchFamily="34" charset="-120"/>
              </a:rPr>
              <a:t>CPTAC Pan-Cancer Glioblastoma Cohort, via LinkedOmics</a:t>
            </a:r>
            <a:endParaRPr lang="en-US" sz="1500" dirty="0"/>
          </a:p>
        </p:txBody>
      </p:sp>
      <p:sp>
        <p:nvSpPr>
          <p:cNvPr id="6" name="Text 4"/>
          <p:cNvSpPr/>
          <p:nvPr/>
        </p:nvSpPr>
        <p:spPr>
          <a:xfrm>
            <a:off x="822960" y="1508760"/>
            <a:ext cx="10058400" cy="365760"/>
          </a:xfrm>
          <a:prstGeom prst="rect">
            <a:avLst/>
          </a:prstGeom>
          <a:noFill/>
          <a:ln/>
        </p:spPr>
        <p:txBody>
          <a:bodyPr wrap="square" rtlCol="0" anchor="ctr"/>
          <a:lstStyle/>
          <a:p>
            <a:pPr indent="0" marL="0">
              <a:buNone/>
            </a:pPr>
            <a:r>
              <a:rPr lang="en-US" sz="1250" i="1" dirty="0">
                <a:solidFill>
                  <a:srgbClr val="5B6770"/>
                </a:solidFill>
                <a:latin typeface="Calibri" pitchFamily="34" charset="0"/>
                <a:ea typeface="Calibri" pitchFamily="34" charset="-122"/>
                <a:cs typeface="Calibri" pitchFamily="34" charset="-120"/>
              </a:rPr>
              <a:t>Source: Wang et al., 2021, Cancer Cell — proteogenomic characterization of 99 treatment-naive GBM tumors</a:t>
            </a:r>
            <a:endParaRPr lang="en-US" sz="1250" dirty="0"/>
          </a:p>
        </p:txBody>
      </p:sp>
      <p:sp>
        <p:nvSpPr>
          <p:cNvPr id="7" name="Shape 5"/>
          <p:cNvSpPr/>
          <p:nvPr/>
        </p:nvSpPr>
        <p:spPr>
          <a:xfrm>
            <a:off x="822960" y="2103120"/>
            <a:ext cx="6675120" cy="566928"/>
          </a:xfrm>
          <a:prstGeom prst="rect">
            <a:avLst/>
          </a:prstGeom>
          <a:solidFill>
            <a:srgbClr val="028090"/>
          </a:solidFill>
          <a:ln w="6350">
            <a:solidFill>
              <a:srgbClr val="E3E8EA"/>
            </a:solidFill>
            <a:prstDash val="solid"/>
          </a:ln>
        </p:spPr>
      </p:sp>
      <p:sp>
        <p:nvSpPr>
          <p:cNvPr id="8" name="Text 6"/>
          <p:cNvSpPr/>
          <p:nvPr/>
        </p:nvSpPr>
        <p:spPr>
          <a:xfrm>
            <a:off x="822960" y="2103120"/>
            <a:ext cx="2651760" cy="566928"/>
          </a:xfrm>
          <a:prstGeom prst="rect">
            <a:avLst/>
          </a:prstGeom>
          <a:noFill/>
          <a:ln/>
        </p:spPr>
        <p:txBody>
          <a:bodyPr wrap="square" lIns="0" tIns="10160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Layer</a:t>
            </a:r>
            <a:endParaRPr lang="en-US" sz="1250" dirty="0"/>
          </a:p>
        </p:txBody>
      </p:sp>
      <p:sp>
        <p:nvSpPr>
          <p:cNvPr id="9" name="Text 7"/>
          <p:cNvSpPr/>
          <p:nvPr/>
        </p:nvSpPr>
        <p:spPr>
          <a:xfrm>
            <a:off x="3474720" y="2103120"/>
            <a:ext cx="292608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Features (raw → used)</a:t>
            </a:r>
            <a:endParaRPr lang="en-US" sz="1250" dirty="0"/>
          </a:p>
        </p:txBody>
      </p:sp>
      <p:sp>
        <p:nvSpPr>
          <p:cNvPr id="10" name="Text 8"/>
          <p:cNvSpPr/>
          <p:nvPr/>
        </p:nvSpPr>
        <p:spPr>
          <a:xfrm>
            <a:off x="6400800" y="2103120"/>
            <a:ext cx="109728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Samples</a:t>
            </a:r>
            <a:endParaRPr lang="en-US" sz="1250" dirty="0"/>
          </a:p>
        </p:txBody>
      </p:sp>
      <p:sp>
        <p:nvSpPr>
          <p:cNvPr id="11" name="Shape 9"/>
          <p:cNvSpPr/>
          <p:nvPr/>
        </p:nvSpPr>
        <p:spPr>
          <a:xfrm>
            <a:off x="822960" y="2670048"/>
            <a:ext cx="6675120" cy="566928"/>
          </a:xfrm>
          <a:prstGeom prst="rect">
            <a:avLst/>
          </a:prstGeom>
          <a:solidFill>
            <a:srgbClr val="FFFFFF"/>
          </a:solidFill>
          <a:ln w="6350">
            <a:solidFill>
              <a:srgbClr val="E3E8EA"/>
            </a:solidFill>
            <a:prstDash val="solid"/>
          </a:ln>
        </p:spPr>
      </p:sp>
      <p:sp>
        <p:nvSpPr>
          <p:cNvPr id="12" name="Text 10"/>
          <p:cNvSpPr/>
          <p:nvPr/>
        </p:nvSpPr>
        <p:spPr>
          <a:xfrm>
            <a:off x="822960" y="2670048"/>
            <a:ext cx="2651760" cy="566928"/>
          </a:xfrm>
          <a:prstGeom prst="rect">
            <a:avLst/>
          </a:prstGeom>
          <a:noFill/>
          <a:ln/>
        </p:spPr>
        <p:txBody>
          <a:bodyPr wrap="square" lIns="0" tIns="101600" rIns="0" bIns="0" rtlCol="0" anchor="ctr"/>
          <a:lstStyle/>
          <a:p>
            <a:pPr algn="l" indent="0" marL="0">
              <a:buNone/>
            </a:pPr>
            <a:r>
              <a:rPr lang="en-US" sz="1250" dirty="0">
                <a:solidFill>
                  <a:srgbClr val="1A1A1A"/>
                </a:solidFill>
                <a:latin typeface="Calibri" pitchFamily="34" charset="0"/>
                <a:ea typeface="Calibri" pitchFamily="34" charset="-122"/>
                <a:cs typeface="Calibri" pitchFamily="34" charset="-120"/>
              </a:rPr>
              <a:t>RNA-seq</a:t>
            </a:r>
            <a:endParaRPr lang="en-US" sz="1250" dirty="0"/>
          </a:p>
        </p:txBody>
      </p:sp>
      <p:sp>
        <p:nvSpPr>
          <p:cNvPr id="13" name="Text 11"/>
          <p:cNvSpPr/>
          <p:nvPr/>
        </p:nvSpPr>
        <p:spPr>
          <a:xfrm>
            <a:off x="3474720" y="2670048"/>
            <a:ext cx="2926080" cy="566928"/>
          </a:xfrm>
          <a:prstGeom prst="rect">
            <a:avLst/>
          </a:prstGeom>
          <a:noFill/>
          <a:ln/>
        </p:spPr>
        <p:txBody>
          <a:bodyPr wrap="square" lIns="0" tIns="0" rIns="0" bIns="0" rtlCol="0" anchor="ctr"/>
          <a:lstStyle/>
          <a:p>
            <a:pPr algn="ctr" indent="0" marL="0">
              <a:buNone/>
            </a:pPr>
            <a:r>
              <a:rPr lang="en-US" sz="1250" dirty="0">
                <a:solidFill>
                  <a:srgbClr val="1A1A1A"/>
                </a:solidFill>
                <a:latin typeface="Calibri" pitchFamily="34" charset="0"/>
                <a:ea typeface="Calibri" pitchFamily="34" charset="-122"/>
                <a:cs typeface="Calibri" pitchFamily="34" charset="-120"/>
              </a:rPr>
              <a:t>60,669 → top 5,000</a:t>
            </a:r>
            <a:endParaRPr lang="en-US" sz="1250" dirty="0"/>
          </a:p>
        </p:txBody>
      </p:sp>
      <p:sp>
        <p:nvSpPr>
          <p:cNvPr id="14" name="Text 12"/>
          <p:cNvSpPr/>
          <p:nvPr/>
        </p:nvSpPr>
        <p:spPr>
          <a:xfrm>
            <a:off x="6400800" y="2670048"/>
            <a:ext cx="1097280" cy="566928"/>
          </a:xfrm>
          <a:prstGeom prst="rect">
            <a:avLst/>
          </a:prstGeom>
          <a:noFill/>
          <a:ln/>
        </p:spPr>
        <p:txBody>
          <a:bodyPr wrap="square" lIns="0" tIns="0" rIns="0" bIns="0" rtlCol="0" anchor="ctr"/>
          <a:lstStyle/>
          <a:p>
            <a:pPr algn="ctr" indent="0" marL="0">
              <a:buNone/>
            </a:pPr>
            <a:r>
              <a:rPr lang="en-US" sz="1250" dirty="0">
                <a:solidFill>
                  <a:srgbClr val="1A1A1A"/>
                </a:solidFill>
                <a:latin typeface="Calibri" pitchFamily="34" charset="0"/>
                <a:ea typeface="Calibri" pitchFamily="34" charset="-122"/>
                <a:cs typeface="Calibri" pitchFamily="34" charset="-120"/>
              </a:rPr>
              <a:t>99</a:t>
            </a:r>
            <a:endParaRPr lang="en-US" sz="1250" dirty="0"/>
          </a:p>
        </p:txBody>
      </p:sp>
      <p:sp>
        <p:nvSpPr>
          <p:cNvPr id="15" name="Shape 13"/>
          <p:cNvSpPr/>
          <p:nvPr/>
        </p:nvSpPr>
        <p:spPr>
          <a:xfrm>
            <a:off x="822960" y="3236976"/>
            <a:ext cx="6675120" cy="566928"/>
          </a:xfrm>
          <a:prstGeom prst="rect">
            <a:avLst/>
          </a:prstGeom>
          <a:solidFill>
            <a:srgbClr val="F4F7F8"/>
          </a:solidFill>
          <a:ln w="6350">
            <a:solidFill>
              <a:srgbClr val="E3E8EA"/>
            </a:solidFill>
            <a:prstDash val="solid"/>
          </a:ln>
        </p:spPr>
      </p:sp>
      <p:sp>
        <p:nvSpPr>
          <p:cNvPr id="16" name="Text 14"/>
          <p:cNvSpPr/>
          <p:nvPr/>
        </p:nvSpPr>
        <p:spPr>
          <a:xfrm>
            <a:off x="822960" y="3236976"/>
            <a:ext cx="2651760" cy="566928"/>
          </a:xfrm>
          <a:prstGeom prst="rect">
            <a:avLst/>
          </a:prstGeom>
          <a:noFill/>
          <a:ln/>
        </p:spPr>
        <p:txBody>
          <a:bodyPr wrap="square" lIns="0" tIns="101600" rIns="0" bIns="0" rtlCol="0" anchor="ctr"/>
          <a:lstStyle/>
          <a:p>
            <a:pPr algn="l" indent="0" marL="0">
              <a:buNone/>
            </a:pPr>
            <a:r>
              <a:rPr lang="en-US" sz="1250" dirty="0">
                <a:solidFill>
                  <a:srgbClr val="1A1A1A"/>
                </a:solidFill>
                <a:latin typeface="Calibri" pitchFamily="34" charset="0"/>
                <a:ea typeface="Calibri" pitchFamily="34" charset="-122"/>
                <a:cs typeface="Calibri" pitchFamily="34" charset="-120"/>
              </a:rPr>
              <a:t>Proteomics</a:t>
            </a:r>
            <a:endParaRPr lang="en-US" sz="1250" dirty="0"/>
          </a:p>
        </p:txBody>
      </p:sp>
      <p:sp>
        <p:nvSpPr>
          <p:cNvPr id="17" name="Text 15"/>
          <p:cNvSpPr/>
          <p:nvPr/>
        </p:nvSpPr>
        <p:spPr>
          <a:xfrm>
            <a:off x="3474720" y="3236976"/>
            <a:ext cx="2926080" cy="566928"/>
          </a:xfrm>
          <a:prstGeom prst="rect">
            <a:avLst/>
          </a:prstGeom>
          <a:noFill/>
          <a:ln/>
        </p:spPr>
        <p:txBody>
          <a:bodyPr wrap="square" lIns="0" tIns="0" rIns="0" bIns="0" rtlCol="0" anchor="ctr"/>
          <a:lstStyle/>
          <a:p>
            <a:pPr algn="ctr" indent="0" marL="0">
              <a:buNone/>
            </a:pPr>
            <a:r>
              <a:rPr lang="en-US" sz="1250" dirty="0">
                <a:solidFill>
                  <a:srgbClr val="1A1A1A"/>
                </a:solidFill>
                <a:latin typeface="Calibri" pitchFamily="34" charset="0"/>
                <a:ea typeface="Calibri" pitchFamily="34" charset="-122"/>
                <a:cs typeface="Calibri" pitchFamily="34" charset="-120"/>
              </a:rPr>
              <a:t>12,100 → top 5,000</a:t>
            </a:r>
            <a:endParaRPr lang="en-US" sz="1250" dirty="0"/>
          </a:p>
        </p:txBody>
      </p:sp>
      <p:sp>
        <p:nvSpPr>
          <p:cNvPr id="18" name="Text 16"/>
          <p:cNvSpPr/>
          <p:nvPr/>
        </p:nvSpPr>
        <p:spPr>
          <a:xfrm>
            <a:off x="6400800" y="3236976"/>
            <a:ext cx="1097280" cy="566928"/>
          </a:xfrm>
          <a:prstGeom prst="rect">
            <a:avLst/>
          </a:prstGeom>
          <a:noFill/>
          <a:ln/>
        </p:spPr>
        <p:txBody>
          <a:bodyPr wrap="square" lIns="0" tIns="0" rIns="0" bIns="0" rtlCol="0" anchor="ctr"/>
          <a:lstStyle/>
          <a:p>
            <a:pPr algn="ctr" indent="0" marL="0">
              <a:buNone/>
            </a:pPr>
            <a:r>
              <a:rPr lang="en-US" sz="1250" dirty="0">
                <a:solidFill>
                  <a:srgbClr val="1A1A1A"/>
                </a:solidFill>
                <a:latin typeface="Calibri" pitchFamily="34" charset="0"/>
                <a:ea typeface="Calibri" pitchFamily="34" charset="-122"/>
                <a:cs typeface="Calibri" pitchFamily="34" charset="-120"/>
              </a:rPr>
              <a:t>99</a:t>
            </a:r>
            <a:endParaRPr lang="en-US" sz="1250" dirty="0"/>
          </a:p>
        </p:txBody>
      </p:sp>
      <p:sp>
        <p:nvSpPr>
          <p:cNvPr id="19" name="Shape 17"/>
          <p:cNvSpPr/>
          <p:nvPr/>
        </p:nvSpPr>
        <p:spPr>
          <a:xfrm>
            <a:off x="822960" y="3803904"/>
            <a:ext cx="6675120" cy="566928"/>
          </a:xfrm>
          <a:prstGeom prst="rect">
            <a:avLst/>
          </a:prstGeom>
          <a:solidFill>
            <a:srgbClr val="FFFFFF"/>
          </a:solidFill>
          <a:ln w="6350">
            <a:solidFill>
              <a:srgbClr val="E3E8EA"/>
            </a:solidFill>
            <a:prstDash val="solid"/>
          </a:ln>
        </p:spPr>
      </p:sp>
      <p:sp>
        <p:nvSpPr>
          <p:cNvPr id="20" name="Text 18"/>
          <p:cNvSpPr/>
          <p:nvPr/>
        </p:nvSpPr>
        <p:spPr>
          <a:xfrm>
            <a:off x="822960" y="3803904"/>
            <a:ext cx="2651760" cy="566928"/>
          </a:xfrm>
          <a:prstGeom prst="rect">
            <a:avLst/>
          </a:prstGeom>
          <a:noFill/>
          <a:ln/>
        </p:spPr>
        <p:txBody>
          <a:bodyPr wrap="square" lIns="0" tIns="101600" rIns="0" bIns="0" rtlCol="0" anchor="ctr"/>
          <a:lstStyle/>
          <a:p>
            <a:pPr algn="l" indent="0" marL="0">
              <a:buNone/>
            </a:pPr>
            <a:r>
              <a:rPr lang="en-US" sz="1250" dirty="0">
                <a:solidFill>
                  <a:srgbClr val="1A1A1A"/>
                </a:solidFill>
                <a:latin typeface="Calibri" pitchFamily="34" charset="0"/>
                <a:ea typeface="Calibri" pitchFamily="34" charset="-122"/>
                <a:cs typeface="Calibri" pitchFamily="34" charset="-120"/>
              </a:rPr>
              <a:t>Methylation</a:t>
            </a:r>
            <a:endParaRPr lang="en-US" sz="1250" dirty="0"/>
          </a:p>
        </p:txBody>
      </p:sp>
      <p:sp>
        <p:nvSpPr>
          <p:cNvPr id="21" name="Text 19"/>
          <p:cNvSpPr/>
          <p:nvPr/>
        </p:nvSpPr>
        <p:spPr>
          <a:xfrm>
            <a:off x="3474720" y="3803904"/>
            <a:ext cx="2926080" cy="566928"/>
          </a:xfrm>
          <a:prstGeom prst="rect">
            <a:avLst/>
          </a:prstGeom>
          <a:noFill/>
          <a:ln/>
        </p:spPr>
        <p:txBody>
          <a:bodyPr wrap="square" lIns="0" tIns="0" rIns="0" bIns="0" rtlCol="0" anchor="ctr"/>
          <a:lstStyle/>
          <a:p>
            <a:pPr algn="ctr" indent="0" marL="0">
              <a:buNone/>
            </a:pPr>
            <a:r>
              <a:rPr lang="en-US" sz="1250" dirty="0">
                <a:solidFill>
                  <a:srgbClr val="1A1A1A"/>
                </a:solidFill>
                <a:latin typeface="Calibri" pitchFamily="34" charset="0"/>
                <a:ea typeface="Calibri" pitchFamily="34" charset="-122"/>
                <a:cs typeface="Calibri" pitchFamily="34" charset="-120"/>
              </a:rPr>
              <a:t>13,178 → top 5,000</a:t>
            </a:r>
            <a:endParaRPr lang="en-US" sz="1250" dirty="0"/>
          </a:p>
        </p:txBody>
      </p:sp>
      <p:sp>
        <p:nvSpPr>
          <p:cNvPr id="22" name="Text 20"/>
          <p:cNvSpPr/>
          <p:nvPr/>
        </p:nvSpPr>
        <p:spPr>
          <a:xfrm>
            <a:off x="6400800" y="3803904"/>
            <a:ext cx="1097280" cy="566928"/>
          </a:xfrm>
          <a:prstGeom prst="rect">
            <a:avLst/>
          </a:prstGeom>
          <a:noFill/>
          <a:ln/>
        </p:spPr>
        <p:txBody>
          <a:bodyPr wrap="square" lIns="0" tIns="0" rIns="0" bIns="0" rtlCol="0" anchor="ctr"/>
          <a:lstStyle/>
          <a:p>
            <a:pPr algn="ctr" indent="0" marL="0">
              <a:buNone/>
            </a:pPr>
            <a:r>
              <a:rPr lang="en-US" sz="1250" dirty="0">
                <a:solidFill>
                  <a:srgbClr val="1A1A1A"/>
                </a:solidFill>
                <a:latin typeface="Calibri" pitchFamily="34" charset="0"/>
                <a:ea typeface="Calibri" pitchFamily="34" charset="-122"/>
                <a:cs typeface="Calibri" pitchFamily="34" charset="-120"/>
              </a:rPr>
              <a:t>97</a:t>
            </a:r>
            <a:endParaRPr lang="en-US" sz="1250" dirty="0"/>
          </a:p>
        </p:txBody>
      </p:sp>
      <p:sp>
        <p:nvSpPr>
          <p:cNvPr id="23" name="Shape 21"/>
          <p:cNvSpPr/>
          <p:nvPr/>
        </p:nvSpPr>
        <p:spPr>
          <a:xfrm>
            <a:off x="822960" y="4370832"/>
            <a:ext cx="6675120" cy="566928"/>
          </a:xfrm>
          <a:prstGeom prst="rect">
            <a:avLst/>
          </a:prstGeom>
          <a:solidFill>
            <a:srgbClr val="F4F7F8"/>
          </a:solidFill>
          <a:ln w="6350">
            <a:solidFill>
              <a:srgbClr val="E3E8EA"/>
            </a:solidFill>
            <a:prstDash val="solid"/>
          </a:ln>
        </p:spPr>
      </p:sp>
      <p:sp>
        <p:nvSpPr>
          <p:cNvPr id="24" name="Text 22"/>
          <p:cNvSpPr/>
          <p:nvPr/>
        </p:nvSpPr>
        <p:spPr>
          <a:xfrm>
            <a:off x="822960" y="4370832"/>
            <a:ext cx="2651760" cy="566928"/>
          </a:xfrm>
          <a:prstGeom prst="rect">
            <a:avLst/>
          </a:prstGeom>
          <a:noFill/>
          <a:ln/>
        </p:spPr>
        <p:txBody>
          <a:bodyPr wrap="square" lIns="0" tIns="101600" rIns="0" bIns="0" rtlCol="0" anchor="ctr"/>
          <a:lstStyle/>
          <a:p>
            <a:pPr algn="l" indent="0" marL="0">
              <a:buNone/>
            </a:pPr>
            <a:r>
              <a:rPr lang="en-US" sz="1250" dirty="0">
                <a:solidFill>
                  <a:srgbClr val="1A1A1A"/>
                </a:solidFill>
                <a:latin typeface="Calibri" pitchFamily="34" charset="0"/>
                <a:ea typeface="Calibri" pitchFamily="34" charset="-122"/>
                <a:cs typeface="Calibri" pitchFamily="34" charset="-120"/>
              </a:rPr>
              <a:t>miRNA-seq</a:t>
            </a:r>
            <a:endParaRPr lang="en-US" sz="1250" dirty="0"/>
          </a:p>
        </p:txBody>
      </p:sp>
      <p:sp>
        <p:nvSpPr>
          <p:cNvPr id="25" name="Text 23"/>
          <p:cNvSpPr/>
          <p:nvPr/>
        </p:nvSpPr>
        <p:spPr>
          <a:xfrm>
            <a:off x="3474720" y="4370832"/>
            <a:ext cx="2926080" cy="566928"/>
          </a:xfrm>
          <a:prstGeom prst="rect">
            <a:avLst/>
          </a:prstGeom>
          <a:noFill/>
          <a:ln/>
        </p:spPr>
        <p:txBody>
          <a:bodyPr wrap="square" lIns="0" tIns="0" rIns="0" bIns="0" rtlCol="0" anchor="ctr"/>
          <a:lstStyle/>
          <a:p>
            <a:pPr algn="ctr" indent="0" marL="0">
              <a:buNone/>
            </a:pPr>
            <a:r>
              <a:rPr lang="en-US" sz="1250" dirty="0">
                <a:solidFill>
                  <a:srgbClr val="1A1A1A"/>
                </a:solidFill>
                <a:latin typeface="Calibri" pitchFamily="34" charset="0"/>
                <a:ea typeface="Calibri" pitchFamily="34" charset="-122"/>
                <a:cs typeface="Calibri" pitchFamily="34" charset="-120"/>
              </a:rPr>
              <a:t>2,582 → 1,983</a:t>
            </a:r>
            <a:endParaRPr lang="en-US" sz="1250" dirty="0"/>
          </a:p>
        </p:txBody>
      </p:sp>
      <p:sp>
        <p:nvSpPr>
          <p:cNvPr id="26" name="Text 24"/>
          <p:cNvSpPr/>
          <p:nvPr/>
        </p:nvSpPr>
        <p:spPr>
          <a:xfrm>
            <a:off x="6400800" y="4370832"/>
            <a:ext cx="1097280" cy="566928"/>
          </a:xfrm>
          <a:prstGeom prst="rect">
            <a:avLst/>
          </a:prstGeom>
          <a:noFill/>
          <a:ln/>
        </p:spPr>
        <p:txBody>
          <a:bodyPr wrap="square" lIns="0" tIns="0" rIns="0" bIns="0" rtlCol="0" anchor="ctr"/>
          <a:lstStyle/>
          <a:p>
            <a:pPr algn="ctr" indent="0" marL="0">
              <a:buNone/>
            </a:pPr>
            <a:r>
              <a:rPr lang="en-US" sz="1250" dirty="0">
                <a:solidFill>
                  <a:srgbClr val="1A1A1A"/>
                </a:solidFill>
                <a:latin typeface="Calibri" pitchFamily="34" charset="0"/>
                <a:ea typeface="Calibri" pitchFamily="34" charset="-122"/>
                <a:cs typeface="Calibri" pitchFamily="34" charset="-120"/>
              </a:rPr>
              <a:t>98</a:t>
            </a:r>
            <a:endParaRPr lang="en-US" sz="1250" dirty="0"/>
          </a:p>
        </p:txBody>
      </p:sp>
      <p:sp>
        <p:nvSpPr>
          <p:cNvPr id="27" name="Shape 25"/>
          <p:cNvSpPr/>
          <p:nvPr/>
        </p:nvSpPr>
        <p:spPr>
          <a:xfrm>
            <a:off x="822960" y="4937760"/>
            <a:ext cx="6675120" cy="566928"/>
          </a:xfrm>
          <a:prstGeom prst="rect">
            <a:avLst/>
          </a:prstGeom>
          <a:solidFill>
            <a:srgbClr val="FFFFFF"/>
          </a:solidFill>
          <a:ln w="6350">
            <a:solidFill>
              <a:srgbClr val="E3E8EA"/>
            </a:solidFill>
            <a:prstDash val="solid"/>
          </a:ln>
        </p:spPr>
      </p:sp>
      <p:sp>
        <p:nvSpPr>
          <p:cNvPr id="28" name="Text 26"/>
          <p:cNvSpPr/>
          <p:nvPr/>
        </p:nvSpPr>
        <p:spPr>
          <a:xfrm>
            <a:off x="822960" y="4937760"/>
            <a:ext cx="2651760" cy="566928"/>
          </a:xfrm>
          <a:prstGeom prst="rect">
            <a:avLst/>
          </a:prstGeom>
          <a:noFill/>
          <a:ln/>
        </p:spPr>
        <p:txBody>
          <a:bodyPr wrap="square" lIns="0" tIns="101600" rIns="0" bIns="0" rtlCol="0" anchor="ctr"/>
          <a:lstStyle/>
          <a:p>
            <a:pPr algn="l" indent="0" marL="0">
              <a:buNone/>
            </a:pPr>
            <a:r>
              <a:rPr lang="en-US" sz="1250" dirty="0">
                <a:solidFill>
                  <a:srgbClr val="1A1A1A"/>
                </a:solidFill>
                <a:latin typeface="Calibri" pitchFamily="34" charset="0"/>
                <a:ea typeface="Calibri" pitchFamily="34" charset="-122"/>
                <a:cs typeface="Calibri" pitchFamily="34" charset="-120"/>
              </a:rPr>
              <a:t>Mutations (binary)</a:t>
            </a:r>
            <a:endParaRPr lang="en-US" sz="1250" dirty="0"/>
          </a:p>
        </p:txBody>
      </p:sp>
      <p:sp>
        <p:nvSpPr>
          <p:cNvPr id="29" name="Text 27"/>
          <p:cNvSpPr/>
          <p:nvPr/>
        </p:nvSpPr>
        <p:spPr>
          <a:xfrm>
            <a:off x="3474720" y="4937760"/>
            <a:ext cx="2926080" cy="566928"/>
          </a:xfrm>
          <a:prstGeom prst="rect">
            <a:avLst/>
          </a:prstGeom>
          <a:noFill/>
          <a:ln/>
        </p:spPr>
        <p:txBody>
          <a:bodyPr wrap="square" lIns="0" tIns="0" rIns="0" bIns="0" rtlCol="0" anchor="ctr"/>
          <a:lstStyle/>
          <a:p>
            <a:pPr algn="ctr" indent="0" marL="0">
              <a:buNone/>
            </a:pPr>
            <a:r>
              <a:rPr lang="en-US" sz="1250" dirty="0">
                <a:solidFill>
                  <a:srgbClr val="1A1A1A"/>
                </a:solidFill>
                <a:latin typeface="Calibri" pitchFamily="34" charset="0"/>
                <a:ea typeface="Calibri" pitchFamily="34" charset="-122"/>
                <a:cs typeface="Calibri" pitchFamily="34" charset="-120"/>
              </a:rPr>
              <a:t>4,626 → 4,614</a:t>
            </a:r>
            <a:endParaRPr lang="en-US" sz="1250" dirty="0"/>
          </a:p>
        </p:txBody>
      </p:sp>
      <p:sp>
        <p:nvSpPr>
          <p:cNvPr id="30" name="Text 28"/>
          <p:cNvSpPr/>
          <p:nvPr/>
        </p:nvSpPr>
        <p:spPr>
          <a:xfrm>
            <a:off x="6400800" y="4937760"/>
            <a:ext cx="1097280" cy="566928"/>
          </a:xfrm>
          <a:prstGeom prst="rect">
            <a:avLst/>
          </a:prstGeom>
          <a:noFill/>
          <a:ln/>
        </p:spPr>
        <p:txBody>
          <a:bodyPr wrap="square" lIns="0" tIns="0" rIns="0" bIns="0" rtlCol="0" anchor="ctr"/>
          <a:lstStyle/>
          <a:p>
            <a:pPr algn="ctr" indent="0" marL="0">
              <a:buNone/>
            </a:pPr>
            <a:r>
              <a:rPr lang="en-US" sz="1250" dirty="0">
                <a:solidFill>
                  <a:srgbClr val="1A1A1A"/>
                </a:solidFill>
                <a:latin typeface="Calibri" pitchFamily="34" charset="0"/>
                <a:ea typeface="Calibri" pitchFamily="34" charset="-122"/>
                <a:cs typeface="Calibri" pitchFamily="34" charset="-120"/>
              </a:rPr>
              <a:t>99</a:t>
            </a:r>
            <a:endParaRPr lang="en-US" sz="1250" dirty="0"/>
          </a:p>
        </p:txBody>
      </p:sp>
      <p:sp>
        <p:nvSpPr>
          <p:cNvPr id="31" name="Text 29"/>
          <p:cNvSpPr/>
          <p:nvPr/>
        </p:nvSpPr>
        <p:spPr>
          <a:xfrm>
            <a:off x="822960" y="5641848"/>
            <a:ext cx="6675120" cy="365760"/>
          </a:xfrm>
          <a:prstGeom prst="rect">
            <a:avLst/>
          </a:prstGeom>
          <a:noFill/>
          <a:ln/>
        </p:spPr>
        <p:txBody>
          <a:bodyPr wrap="square" rtlCol="0" anchor="ctr"/>
          <a:lstStyle/>
          <a:p>
            <a:pPr indent="0" marL="0">
              <a:buNone/>
            </a:pPr>
            <a:r>
              <a:rPr lang="en-US" sz="1200" b="1" dirty="0">
                <a:solidFill>
                  <a:srgbClr val="E85D04"/>
                </a:solidFill>
                <a:latin typeface="Calibri" pitchFamily="34" charset="0"/>
                <a:ea typeface="Calibri" pitchFamily="34" charset="-122"/>
                <a:cs typeface="Calibri" pitchFamily="34" charset="-120"/>
              </a:rPr>
              <a:t>N = 96 patients with complete data across all 5 layers, after sample matching</a:t>
            </a:r>
            <a:endParaRPr lang="en-US" sz="1200" dirty="0"/>
          </a:p>
        </p:txBody>
      </p:sp>
      <p:sp>
        <p:nvSpPr>
          <p:cNvPr id="32" name="Shape 30"/>
          <p:cNvSpPr/>
          <p:nvPr/>
        </p:nvSpPr>
        <p:spPr>
          <a:xfrm>
            <a:off x="7818120" y="2103120"/>
            <a:ext cx="3657600" cy="3566160"/>
          </a:xfrm>
          <a:prstGeom prst="roundRect">
            <a:avLst>
              <a:gd name="adj" fmla="val 2051"/>
            </a:avLst>
          </a:prstGeom>
          <a:solidFill>
            <a:srgbClr val="F4F7F8"/>
          </a:solidFill>
          <a:ln/>
        </p:spPr>
      </p:sp>
      <p:sp>
        <p:nvSpPr>
          <p:cNvPr id="33" name="Text 31"/>
          <p:cNvSpPr/>
          <p:nvPr/>
        </p:nvSpPr>
        <p:spPr>
          <a:xfrm>
            <a:off x="8092440" y="2286000"/>
            <a:ext cx="3108960" cy="320040"/>
          </a:xfrm>
          <a:prstGeom prst="rect">
            <a:avLst/>
          </a:prstGeom>
          <a:noFill/>
          <a:ln/>
        </p:spPr>
        <p:txBody>
          <a:bodyPr wrap="square" rtlCol="0" anchor="ctr"/>
          <a:lstStyle/>
          <a:p>
            <a:pPr indent="0" marL="0">
              <a:buNone/>
            </a:pPr>
            <a:r>
              <a:rPr lang="en-US" sz="1250" b="1" dirty="0">
                <a:solidFill>
                  <a:srgbClr val="0B3142"/>
                </a:solidFill>
                <a:latin typeface="Calibri" pitchFamily="34" charset="0"/>
                <a:ea typeface="Calibri" pitchFamily="34" charset="-122"/>
                <a:cs typeface="Calibri" pitchFamily="34" charset="-120"/>
              </a:rPr>
              <a:t>Plus clinical &amp; survival data:</a:t>
            </a:r>
            <a:endParaRPr lang="en-US" sz="1250" dirty="0"/>
          </a:p>
        </p:txBody>
      </p:sp>
      <p:sp>
        <p:nvSpPr>
          <p:cNvPr id="34" name="Text 32"/>
          <p:cNvSpPr/>
          <p:nvPr/>
        </p:nvSpPr>
        <p:spPr>
          <a:xfrm>
            <a:off x="8092440" y="2697480"/>
            <a:ext cx="3108960" cy="2834640"/>
          </a:xfrm>
          <a:prstGeom prst="rect">
            <a:avLst/>
          </a:prstGeom>
          <a:noFill/>
          <a:ln/>
        </p:spPr>
        <p:txBody>
          <a:bodyPr wrap="square" rtlCol="0" anchor="ctr"/>
          <a:lstStyle/>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Age, Sex, BMI, smoking history</a:t>
            </a:r>
            <a:endParaRPr lang="en-US" sz="1200" dirty="0"/>
          </a:p>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EGFR / TP53 / ATRX / PTEN / RB1 / PIK3CA mutation status</a:t>
            </a:r>
            <a:endParaRPr lang="en-US" sz="1200" dirty="0"/>
          </a:p>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Overall survival (OS_days, OS_event)</a:t>
            </a:r>
            <a:endParaRPr lang="en-US" sz="1200" dirty="0"/>
          </a:p>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Progression-free survival (PFS)</a:t>
            </a:r>
            <a:endParaRPr lang="en-US" sz="1200" dirty="0"/>
          </a:p>
        </p:txBody>
      </p:sp>
      <p:sp>
        <p:nvSpPr>
          <p:cNvPr id="35" name="Text 33"/>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770"/>
                </a:solidFill>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28090"/>
          </a:solidFill>
          <a:ln/>
        </p:spPr>
      </p:sp>
      <p:sp>
        <p:nvSpPr>
          <p:cNvPr id="3" name="Text 1"/>
          <p:cNvSpPr/>
          <p:nvPr/>
        </p:nvSpPr>
        <p:spPr>
          <a:xfrm>
            <a:off x="457200" y="411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p:nvPr/>
        </p:nvSpPr>
        <p:spPr>
          <a:xfrm>
            <a:off x="1051560" y="320040"/>
            <a:ext cx="10607040" cy="777240"/>
          </a:xfrm>
          <a:prstGeom prst="rect">
            <a:avLst/>
          </a:prstGeom>
          <a:noFill/>
          <a:ln/>
        </p:spPr>
        <p:txBody>
          <a:bodyPr wrap="square" lIns="0" tIns="0" rIns="0" bIns="0" rtlCol="0" anchor="ctr"/>
          <a:lstStyle/>
          <a:p>
            <a:pPr algn="l" indent="0" marL="0">
              <a:buNone/>
            </a:pPr>
            <a:r>
              <a:rPr lang="en-US" sz="3000" b="1" dirty="0">
                <a:solidFill>
                  <a:srgbClr val="0B3142"/>
                </a:solidFill>
                <a:latin typeface="Cambria" pitchFamily="34" charset="0"/>
                <a:ea typeface="Cambria" pitchFamily="34" charset="-122"/>
                <a:cs typeface="Cambria" pitchFamily="34" charset="-120"/>
              </a:rPr>
              <a:t>Analysis Pipeline</a:t>
            </a:r>
            <a:endParaRPr lang="en-US" sz="3000" dirty="0"/>
          </a:p>
        </p:txBody>
      </p:sp>
      <p:sp>
        <p:nvSpPr>
          <p:cNvPr id="5" name="Shape 3"/>
          <p:cNvSpPr/>
          <p:nvPr/>
        </p:nvSpPr>
        <p:spPr>
          <a:xfrm>
            <a:off x="822960" y="1298448"/>
            <a:ext cx="310896" cy="310896"/>
          </a:xfrm>
          <a:prstGeom prst="ellipse">
            <a:avLst/>
          </a:prstGeom>
          <a:solidFill>
            <a:srgbClr val="02C39A"/>
          </a:solidFill>
          <a:ln/>
        </p:spPr>
      </p:sp>
      <p:sp>
        <p:nvSpPr>
          <p:cNvPr id="6" name="Text 4"/>
          <p:cNvSpPr/>
          <p:nvPr/>
        </p:nvSpPr>
        <p:spPr>
          <a:xfrm>
            <a:off x="822960"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7" name="Text 5"/>
          <p:cNvSpPr/>
          <p:nvPr/>
        </p:nvSpPr>
        <p:spPr>
          <a:xfrm>
            <a:off x="1234440" y="1207008"/>
            <a:ext cx="4663440" cy="685800"/>
          </a:xfrm>
          <a:prstGeom prst="rect">
            <a:avLst/>
          </a:prstGeom>
          <a:noFill/>
          <a:ln/>
        </p:spPr>
        <p:txBody>
          <a:bodyPr wrap="square" rtlCol="0" anchor="t"/>
          <a:lstStyle/>
          <a:p>
            <a:pPr indent="0" marL="0">
              <a:buNone/>
            </a:pPr>
            <a:r>
              <a:rPr lang="en-US" sz="1150" dirty="0">
                <a:solidFill>
                  <a:srgbClr val="1A1A1A"/>
                </a:solidFill>
                <a:latin typeface="Calibri" pitchFamily="34" charset="0"/>
                <a:ea typeface="Calibri" pitchFamily="34" charset="-122"/>
                <a:cs typeface="Calibri" pitchFamily="34" charset="-120"/>
              </a:rPr>
              <a:t>Data acquisition — 5 omics layers + clinical/survival (LinkedOmics)</a:t>
            </a:r>
            <a:endParaRPr lang="en-US" sz="1150" dirty="0"/>
          </a:p>
        </p:txBody>
      </p:sp>
      <p:sp>
        <p:nvSpPr>
          <p:cNvPr id="8" name="Shape 6"/>
          <p:cNvSpPr/>
          <p:nvPr/>
        </p:nvSpPr>
        <p:spPr>
          <a:xfrm>
            <a:off x="822960" y="2084832"/>
            <a:ext cx="310896" cy="310896"/>
          </a:xfrm>
          <a:prstGeom prst="ellipse">
            <a:avLst/>
          </a:prstGeom>
          <a:solidFill>
            <a:srgbClr val="02C39A"/>
          </a:solidFill>
          <a:ln/>
        </p:spPr>
      </p:sp>
      <p:sp>
        <p:nvSpPr>
          <p:cNvPr id="9" name="Text 7"/>
          <p:cNvSpPr/>
          <p:nvPr/>
        </p:nvSpPr>
        <p:spPr>
          <a:xfrm>
            <a:off x="822960" y="20848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0" name="Text 8"/>
          <p:cNvSpPr/>
          <p:nvPr/>
        </p:nvSpPr>
        <p:spPr>
          <a:xfrm>
            <a:off x="1234440" y="1993392"/>
            <a:ext cx="4663440" cy="685800"/>
          </a:xfrm>
          <a:prstGeom prst="rect">
            <a:avLst/>
          </a:prstGeom>
          <a:noFill/>
          <a:ln/>
        </p:spPr>
        <p:txBody>
          <a:bodyPr wrap="square" rtlCol="0" anchor="t"/>
          <a:lstStyle/>
          <a:p>
            <a:pPr indent="0" marL="0">
              <a:buNone/>
            </a:pPr>
            <a:r>
              <a:rPr lang="en-US" sz="1150" dirty="0">
                <a:solidFill>
                  <a:srgbClr val="1A1A1A"/>
                </a:solidFill>
                <a:latin typeface="Calibri" pitchFamily="34" charset="0"/>
                <a:ea typeface="Calibri" pitchFamily="34" charset="-122"/>
                <a:cs typeface="Calibri" pitchFamily="34" charset="-120"/>
              </a:rPr>
              <a:t>Gene ID harmonization — Ensembl → gene symbol (unambiguous only)</a:t>
            </a:r>
            <a:endParaRPr lang="en-US" sz="1150" dirty="0"/>
          </a:p>
        </p:txBody>
      </p:sp>
      <p:sp>
        <p:nvSpPr>
          <p:cNvPr id="11" name="Shape 9"/>
          <p:cNvSpPr/>
          <p:nvPr/>
        </p:nvSpPr>
        <p:spPr>
          <a:xfrm>
            <a:off x="822960" y="2871216"/>
            <a:ext cx="310896" cy="310896"/>
          </a:xfrm>
          <a:prstGeom prst="ellipse">
            <a:avLst/>
          </a:prstGeom>
          <a:solidFill>
            <a:srgbClr val="02C39A"/>
          </a:solidFill>
          <a:ln/>
        </p:spPr>
      </p:sp>
      <p:sp>
        <p:nvSpPr>
          <p:cNvPr id="12" name="Text 10"/>
          <p:cNvSpPr/>
          <p:nvPr/>
        </p:nvSpPr>
        <p:spPr>
          <a:xfrm>
            <a:off x="822960" y="287121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3" name="Text 11"/>
          <p:cNvSpPr/>
          <p:nvPr/>
        </p:nvSpPr>
        <p:spPr>
          <a:xfrm>
            <a:off x="1234440" y="2779776"/>
            <a:ext cx="4663440" cy="685800"/>
          </a:xfrm>
          <a:prstGeom prst="rect">
            <a:avLst/>
          </a:prstGeom>
          <a:noFill/>
          <a:ln/>
        </p:spPr>
        <p:txBody>
          <a:bodyPr wrap="square" rtlCol="0" anchor="t"/>
          <a:lstStyle/>
          <a:p>
            <a:pPr indent="0" marL="0">
              <a:buNone/>
            </a:pPr>
            <a:r>
              <a:rPr lang="en-US" sz="1150" dirty="0">
                <a:solidFill>
                  <a:srgbClr val="1A1A1A"/>
                </a:solidFill>
                <a:latin typeface="Calibri" pitchFamily="34" charset="0"/>
                <a:ea typeface="Calibri" pitchFamily="34" charset="-122"/>
                <a:cs typeface="Calibri" pitchFamily="34" charset="-120"/>
              </a:rPr>
              <a:t>Per-layer QC — missingness filtering, KNN imputation, zero-variance removal</a:t>
            </a:r>
            <a:endParaRPr lang="en-US" sz="1150" dirty="0"/>
          </a:p>
        </p:txBody>
      </p:sp>
      <p:sp>
        <p:nvSpPr>
          <p:cNvPr id="14" name="Shape 12"/>
          <p:cNvSpPr/>
          <p:nvPr/>
        </p:nvSpPr>
        <p:spPr>
          <a:xfrm>
            <a:off x="822960" y="3657600"/>
            <a:ext cx="310896" cy="310896"/>
          </a:xfrm>
          <a:prstGeom prst="ellipse">
            <a:avLst/>
          </a:prstGeom>
          <a:solidFill>
            <a:srgbClr val="02C39A"/>
          </a:solidFill>
          <a:ln/>
        </p:spPr>
      </p:sp>
      <p:sp>
        <p:nvSpPr>
          <p:cNvPr id="15" name="Text 13"/>
          <p:cNvSpPr/>
          <p:nvPr/>
        </p:nvSpPr>
        <p:spPr>
          <a:xfrm>
            <a:off x="822960" y="36576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16" name="Text 14"/>
          <p:cNvSpPr/>
          <p:nvPr/>
        </p:nvSpPr>
        <p:spPr>
          <a:xfrm>
            <a:off x="1234440" y="3566160"/>
            <a:ext cx="4663440" cy="685800"/>
          </a:xfrm>
          <a:prstGeom prst="rect">
            <a:avLst/>
          </a:prstGeom>
          <a:noFill/>
          <a:ln/>
        </p:spPr>
        <p:txBody>
          <a:bodyPr wrap="square" rtlCol="0" anchor="t"/>
          <a:lstStyle/>
          <a:p>
            <a:pPr indent="0" marL="0">
              <a:buNone/>
            </a:pPr>
            <a:r>
              <a:rPr lang="en-US" sz="1150" dirty="0">
                <a:solidFill>
                  <a:srgbClr val="1A1A1A"/>
                </a:solidFill>
                <a:latin typeface="Calibri" pitchFamily="34" charset="0"/>
                <a:ea typeface="Calibri" pitchFamily="34" charset="-122"/>
                <a:cs typeface="Calibri" pitchFamily="34" charset="-120"/>
              </a:rPr>
              <a:t>Transformation — log2 already applied at source; M-value (logit) for methylation</a:t>
            </a:r>
            <a:endParaRPr lang="en-US" sz="1150" dirty="0"/>
          </a:p>
        </p:txBody>
      </p:sp>
      <p:sp>
        <p:nvSpPr>
          <p:cNvPr id="17" name="Shape 15"/>
          <p:cNvSpPr/>
          <p:nvPr/>
        </p:nvSpPr>
        <p:spPr>
          <a:xfrm>
            <a:off x="822960" y="4443984"/>
            <a:ext cx="310896" cy="310896"/>
          </a:xfrm>
          <a:prstGeom prst="ellipse">
            <a:avLst/>
          </a:prstGeom>
          <a:solidFill>
            <a:srgbClr val="02C39A"/>
          </a:solidFill>
          <a:ln/>
        </p:spPr>
      </p:sp>
      <p:sp>
        <p:nvSpPr>
          <p:cNvPr id="18" name="Text 16"/>
          <p:cNvSpPr/>
          <p:nvPr/>
        </p:nvSpPr>
        <p:spPr>
          <a:xfrm>
            <a:off x="822960" y="444398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19" name="Text 17"/>
          <p:cNvSpPr/>
          <p:nvPr/>
        </p:nvSpPr>
        <p:spPr>
          <a:xfrm>
            <a:off x="1234440" y="4352544"/>
            <a:ext cx="4663440" cy="685800"/>
          </a:xfrm>
          <a:prstGeom prst="rect">
            <a:avLst/>
          </a:prstGeom>
          <a:noFill/>
          <a:ln/>
        </p:spPr>
        <p:txBody>
          <a:bodyPr wrap="square" rtlCol="0" anchor="t"/>
          <a:lstStyle/>
          <a:p>
            <a:pPr indent="0" marL="0">
              <a:buNone/>
            </a:pPr>
            <a:r>
              <a:rPr lang="en-US" sz="1150" dirty="0">
                <a:solidFill>
                  <a:srgbClr val="1A1A1A"/>
                </a:solidFill>
                <a:latin typeface="Calibri" pitchFamily="34" charset="0"/>
                <a:ea typeface="Calibri" pitchFamily="34" charset="-122"/>
                <a:cs typeface="Calibri" pitchFamily="34" charset="-120"/>
              </a:rPr>
              <a:t>Scaling (z-score) + top-5,000-variable feature selection</a:t>
            </a:r>
            <a:endParaRPr lang="en-US" sz="1150" dirty="0"/>
          </a:p>
        </p:txBody>
      </p:sp>
      <p:sp>
        <p:nvSpPr>
          <p:cNvPr id="20" name="Shape 18"/>
          <p:cNvSpPr/>
          <p:nvPr/>
        </p:nvSpPr>
        <p:spPr>
          <a:xfrm>
            <a:off x="822960" y="5230368"/>
            <a:ext cx="310896" cy="310896"/>
          </a:xfrm>
          <a:prstGeom prst="ellipse">
            <a:avLst/>
          </a:prstGeom>
          <a:solidFill>
            <a:srgbClr val="02C39A"/>
          </a:solidFill>
          <a:ln/>
        </p:spPr>
      </p:sp>
      <p:sp>
        <p:nvSpPr>
          <p:cNvPr id="21" name="Text 19"/>
          <p:cNvSpPr/>
          <p:nvPr/>
        </p:nvSpPr>
        <p:spPr>
          <a:xfrm>
            <a:off x="822960" y="52303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6</a:t>
            </a:r>
            <a:endParaRPr lang="en-US" sz="1100" dirty="0"/>
          </a:p>
        </p:txBody>
      </p:sp>
      <p:sp>
        <p:nvSpPr>
          <p:cNvPr id="22" name="Text 20"/>
          <p:cNvSpPr/>
          <p:nvPr/>
        </p:nvSpPr>
        <p:spPr>
          <a:xfrm>
            <a:off x="1234440" y="5138928"/>
            <a:ext cx="4663440" cy="685800"/>
          </a:xfrm>
          <a:prstGeom prst="rect">
            <a:avLst/>
          </a:prstGeom>
          <a:noFill/>
          <a:ln/>
        </p:spPr>
        <p:txBody>
          <a:bodyPr wrap="square" rtlCol="0" anchor="t"/>
          <a:lstStyle/>
          <a:p>
            <a:pPr indent="0" marL="0">
              <a:buNone/>
            </a:pPr>
            <a:r>
              <a:rPr lang="en-US" sz="1150" dirty="0">
                <a:solidFill>
                  <a:srgbClr val="1A1A1A"/>
                </a:solidFill>
                <a:latin typeface="Calibri" pitchFamily="34" charset="0"/>
                <a:ea typeface="Calibri" pitchFamily="34" charset="-122"/>
                <a:cs typeface="Calibri" pitchFamily="34" charset="-120"/>
              </a:rPr>
              <a:t>Exploratory QC — PCA, sample correlation, hierarchical clustering</a:t>
            </a:r>
            <a:endParaRPr lang="en-US" sz="1150" dirty="0"/>
          </a:p>
        </p:txBody>
      </p:sp>
      <p:sp>
        <p:nvSpPr>
          <p:cNvPr id="23" name="Shape 21"/>
          <p:cNvSpPr/>
          <p:nvPr/>
        </p:nvSpPr>
        <p:spPr>
          <a:xfrm>
            <a:off x="6263640" y="1298448"/>
            <a:ext cx="310896" cy="310896"/>
          </a:xfrm>
          <a:prstGeom prst="ellipse">
            <a:avLst/>
          </a:prstGeom>
          <a:solidFill>
            <a:srgbClr val="02C39A"/>
          </a:solidFill>
          <a:ln/>
        </p:spPr>
      </p:sp>
      <p:sp>
        <p:nvSpPr>
          <p:cNvPr id="24" name="Text 22"/>
          <p:cNvSpPr/>
          <p:nvPr/>
        </p:nvSpPr>
        <p:spPr>
          <a:xfrm>
            <a:off x="6263640"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7</a:t>
            </a:r>
            <a:endParaRPr lang="en-US" sz="1100" dirty="0"/>
          </a:p>
        </p:txBody>
      </p:sp>
      <p:sp>
        <p:nvSpPr>
          <p:cNvPr id="25" name="Text 23"/>
          <p:cNvSpPr/>
          <p:nvPr/>
        </p:nvSpPr>
        <p:spPr>
          <a:xfrm>
            <a:off x="6675120" y="1207008"/>
            <a:ext cx="4663440" cy="685800"/>
          </a:xfrm>
          <a:prstGeom prst="rect">
            <a:avLst/>
          </a:prstGeom>
          <a:noFill/>
          <a:ln/>
        </p:spPr>
        <p:txBody>
          <a:bodyPr wrap="square" rtlCol="0" anchor="t"/>
          <a:lstStyle/>
          <a:p>
            <a:pPr indent="0" marL="0">
              <a:buNone/>
            </a:pPr>
            <a:r>
              <a:rPr lang="en-US" sz="1150" dirty="0">
                <a:solidFill>
                  <a:srgbClr val="1A1A1A"/>
                </a:solidFill>
                <a:latin typeface="Calibri" pitchFamily="34" charset="0"/>
                <a:ea typeface="Calibri" pitchFamily="34" charset="-122"/>
                <a:cs typeface="Calibri" pitchFamily="34" charset="-120"/>
              </a:rPr>
              <a:t>Supervised DE — limma, EGFR-mutant vs. wildtype, all 4 continuous layers</a:t>
            </a:r>
            <a:endParaRPr lang="en-US" sz="1150" dirty="0"/>
          </a:p>
        </p:txBody>
      </p:sp>
      <p:sp>
        <p:nvSpPr>
          <p:cNvPr id="26" name="Shape 24"/>
          <p:cNvSpPr/>
          <p:nvPr/>
        </p:nvSpPr>
        <p:spPr>
          <a:xfrm>
            <a:off x="6263640" y="2084832"/>
            <a:ext cx="310896" cy="310896"/>
          </a:xfrm>
          <a:prstGeom prst="ellipse">
            <a:avLst/>
          </a:prstGeom>
          <a:solidFill>
            <a:srgbClr val="028090"/>
          </a:solidFill>
          <a:ln/>
        </p:spPr>
      </p:sp>
      <p:sp>
        <p:nvSpPr>
          <p:cNvPr id="27" name="Text 25"/>
          <p:cNvSpPr/>
          <p:nvPr/>
        </p:nvSpPr>
        <p:spPr>
          <a:xfrm>
            <a:off x="6263640" y="20848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8</a:t>
            </a:r>
            <a:endParaRPr lang="en-US" sz="1100" dirty="0"/>
          </a:p>
        </p:txBody>
      </p:sp>
      <p:sp>
        <p:nvSpPr>
          <p:cNvPr id="28" name="Text 26"/>
          <p:cNvSpPr/>
          <p:nvPr/>
        </p:nvSpPr>
        <p:spPr>
          <a:xfrm>
            <a:off x="6675120" y="1993392"/>
            <a:ext cx="4663440" cy="685800"/>
          </a:xfrm>
          <a:prstGeom prst="rect">
            <a:avLst/>
          </a:prstGeom>
          <a:noFill/>
          <a:ln/>
        </p:spPr>
        <p:txBody>
          <a:bodyPr wrap="square" rtlCol="0" anchor="t"/>
          <a:lstStyle/>
          <a:p>
            <a:pPr indent="0" marL="0">
              <a:buNone/>
            </a:pPr>
            <a:r>
              <a:rPr lang="en-US" sz="1150" dirty="0">
                <a:solidFill>
                  <a:srgbClr val="1A1A1A"/>
                </a:solidFill>
                <a:latin typeface="Calibri" pitchFamily="34" charset="0"/>
                <a:ea typeface="Calibri" pitchFamily="34" charset="-122"/>
                <a:cs typeface="Calibri" pitchFamily="34" charset="-120"/>
              </a:rPr>
              <a:t>Unsupervised integration — MOFA2, 5 views, 10 factors, Bernoulli likelihood for Mutations</a:t>
            </a:r>
            <a:endParaRPr lang="en-US" sz="1150" dirty="0"/>
          </a:p>
        </p:txBody>
      </p:sp>
      <p:sp>
        <p:nvSpPr>
          <p:cNvPr id="29" name="Shape 27"/>
          <p:cNvSpPr/>
          <p:nvPr/>
        </p:nvSpPr>
        <p:spPr>
          <a:xfrm>
            <a:off x="6263640" y="2871216"/>
            <a:ext cx="310896" cy="310896"/>
          </a:xfrm>
          <a:prstGeom prst="ellipse">
            <a:avLst/>
          </a:prstGeom>
          <a:solidFill>
            <a:srgbClr val="0B3142"/>
          </a:solidFill>
          <a:ln/>
        </p:spPr>
      </p:sp>
      <p:sp>
        <p:nvSpPr>
          <p:cNvPr id="30" name="Text 28"/>
          <p:cNvSpPr/>
          <p:nvPr/>
        </p:nvSpPr>
        <p:spPr>
          <a:xfrm>
            <a:off x="6263640" y="287121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9</a:t>
            </a:r>
            <a:endParaRPr lang="en-US" sz="1100" dirty="0"/>
          </a:p>
        </p:txBody>
      </p:sp>
      <p:sp>
        <p:nvSpPr>
          <p:cNvPr id="31" name="Text 29"/>
          <p:cNvSpPr/>
          <p:nvPr/>
        </p:nvSpPr>
        <p:spPr>
          <a:xfrm>
            <a:off x="6675120" y="2779776"/>
            <a:ext cx="4663440" cy="685800"/>
          </a:xfrm>
          <a:prstGeom prst="rect">
            <a:avLst/>
          </a:prstGeom>
          <a:noFill/>
          <a:ln/>
        </p:spPr>
        <p:txBody>
          <a:bodyPr wrap="square" rtlCol="0" anchor="t"/>
          <a:lstStyle/>
          <a:p>
            <a:pPr indent="0" marL="0">
              <a:buNone/>
            </a:pPr>
            <a:r>
              <a:rPr lang="en-US" sz="1150" dirty="0">
                <a:solidFill>
                  <a:srgbClr val="1A1A1A"/>
                </a:solidFill>
                <a:latin typeface="Calibri" pitchFamily="34" charset="0"/>
                <a:ea typeface="Calibri" pitchFamily="34" charset="-122"/>
                <a:cs typeface="Calibri" pitchFamily="34" charset="-120"/>
              </a:rPr>
              <a:t>Factor interpretation — variance decomposition, covariate screening, weights</a:t>
            </a:r>
            <a:endParaRPr lang="en-US" sz="1150" dirty="0"/>
          </a:p>
        </p:txBody>
      </p:sp>
      <p:sp>
        <p:nvSpPr>
          <p:cNvPr id="32" name="Shape 30"/>
          <p:cNvSpPr/>
          <p:nvPr/>
        </p:nvSpPr>
        <p:spPr>
          <a:xfrm>
            <a:off x="6263640" y="3657600"/>
            <a:ext cx="310896" cy="310896"/>
          </a:xfrm>
          <a:prstGeom prst="ellipse">
            <a:avLst/>
          </a:prstGeom>
          <a:solidFill>
            <a:srgbClr val="0B3142"/>
          </a:solidFill>
          <a:ln/>
        </p:spPr>
      </p:sp>
      <p:sp>
        <p:nvSpPr>
          <p:cNvPr id="33" name="Text 31"/>
          <p:cNvSpPr/>
          <p:nvPr/>
        </p:nvSpPr>
        <p:spPr>
          <a:xfrm>
            <a:off x="6263640" y="36576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10</a:t>
            </a:r>
            <a:endParaRPr lang="en-US" sz="1100" dirty="0"/>
          </a:p>
        </p:txBody>
      </p:sp>
      <p:sp>
        <p:nvSpPr>
          <p:cNvPr id="34" name="Text 32"/>
          <p:cNvSpPr/>
          <p:nvPr/>
        </p:nvSpPr>
        <p:spPr>
          <a:xfrm>
            <a:off x="6675120" y="3566160"/>
            <a:ext cx="4663440" cy="685800"/>
          </a:xfrm>
          <a:prstGeom prst="rect">
            <a:avLst/>
          </a:prstGeom>
          <a:noFill/>
          <a:ln/>
        </p:spPr>
        <p:txBody>
          <a:bodyPr wrap="square" rtlCol="0" anchor="t"/>
          <a:lstStyle/>
          <a:p>
            <a:pPr indent="0" marL="0">
              <a:buNone/>
            </a:pPr>
            <a:r>
              <a:rPr lang="en-US" sz="1150" dirty="0">
                <a:solidFill>
                  <a:srgbClr val="1A1A1A"/>
                </a:solidFill>
                <a:latin typeface="Calibri" pitchFamily="34" charset="0"/>
                <a:ea typeface="Calibri" pitchFamily="34" charset="-122"/>
                <a:cs typeface="Calibri" pitchFamily="34" charset="-120"/>
              </a:rPr>
              <a:t>Survival modeling — Cox proportional hazards on all 10 factors</a:t>
            </a:r>
            <a:endParaRPr lang="en-US" sz="1150" dirty="0"/>
          </a:p>
        </p:txBody>
      </p:sp>
      <p:sp>
        <p:nvSpPr>
          <p:cNvPr id="35" name="Shape 33"/>
          <p:cNvSpPr/>
          <p:nvPr/>
        </p:nvSpPr>
        <p:spPr>
          <a:xfrm>
            <a:off x="6263640" y="4443984"/>
            <a:ext cx="310896" cy="310896"/>
          </a:xfrm>
          <a:prstGeom prst="ellipse">
            <a:avLst/>
          </a:prstGeom>
          <a:solidFill>
            <a:srgbClr val="0B3142"/>
          </a:solidFill>
          <a:ln/>
        </p:spPr>
      </p:sp>
      <p:sp>
        <p:nvSpPr>
          <p:cNvPr id="36" name="Text 34"/>
          <p:cNvSpPr/>
          <p:nvPr/>
        </p:nvSpPr>
        <p:spPr>
          <a:xfrm>
            <a:off x="6263640" y="444398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rPr>
              <a:t>11</a:t>
            </a:r>
            <a:endParaRPr lang="en-US" sz="1100" dirty="0"/>
          </a:p>
        </p:txBody>
      </p:sp>
      <p:sp>
        <p:nvSpPr>
          <p:cNvPr id="37" name="Text 35"/>
          <p:cNvSpPr/>
          <p:nvPr/>
        </p:nvSpPr>
        <p:spPr>
          <a:xfrm>
            <a:off x="6675120" y="4352544"/>
            <a:ext cx="4663440" cy="685800"/>
          </a:xfrm>
          <a:prstGeom prst="rect">
            <a:avLst/>
          </a:prstGeom>
          <a:noFill/>
          <a:ln/>
        </p:spPr>
        <p:txBody>
          <a:bodyPr wrap="square" rtlCol="0" anchor="t"/>
          <a:lstStyle/>
          <a:p>
            <a:pPr indent="0" marL="0">
              <a:buNone/>
            </a:pPr>
            <a:r>
              <a:rPr lang="en-US" sz="1150" dirty="0">
                <a:solidFill>
                  <a:srgbClr val="1A1A1A"/>
                </a:solidFill>
                <a:latin typeface="Calibri" pitchFamily="34" charset="0"/>
                <a:ea typeface="Calibri" pitchFamily="34" charset="-122"/>
                <a:cs typeface="Calibri" pitchFamily="34" charset="-120"/>
              </a:rPr>
              <a:t>Biological interpretation &amp; cross-referencing against primary literature</a:t>
            </a:r>
            <a:endParaRPr lang="en-US" sz="1150" dirty="0"/>
          </a:p>
        </p:txBody>
      </p:sp>
      <p:sp>
        <p:nvSpPr>
          <p:cNvPr id="38" name="Text 36"/>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770"/>
                </a:solidFill>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28090"/>
          </a:solidFill>
          <a:ln/>
        </p:spPr>
      </p:sp>
      <p:sp>
        <p:nvSpPr>
          <p:cNvPr id="3" name="Text 1"/>
          <p:cNvSpPr/>
          <p:nvPr/>
        </p:nvSpPr>
        <p:spPr>
          <a:xfrm>
            <a:off x="457200" y="411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p:nvPr/>
        </p:nvSpPr>
        <p:spPr>
          <a:xfrm>
            <a:off x="1051560" y="320040"/>
            <a:ext cx="10607040" cy="777240"/>
          </a:xfrm>
          <a:prstGeom prst="rect">
            <a:avLst/>
          </a:prstGeom>
          <a:noFill/>
          <a:ln/>
        </p:spPr>
        <p:txBody>
          <a:bodyPr wrap="square" lIns="0" tIns="0" rIns="0" bIns="0" rtlCol="0" anchor="ctr"/>
          <a:lstStyle/>
          <a:p>
            <a:pPr algn="l" indent="0" marL="0">
              <a:buNone/>
            </a:pPr>
            <a:r>
              <a:rPr lang="en-US" sz="3000" b="1" dirty="0">
                <a:solidFill>
                  <a:srgbClr val="0B3142"/>
                </a:solidFill>
                <a:latin typeface="Cambria" pitchFamily="34" charset="0"/>
                <a:ea typeface="Cambria" pitchFamily="34" charset="-122"/>
                <a:cs typeface="Cambria" pitchFamily="34" charset="-120"/>
              </a:rPr>
              <a:t>Quality Control: Missingness &amp; the Methylation Transform</a:t>
            </a:r>
            <a:endParaRPr lang="en-US" sz="3000" dirty="0"/>
          </a:p>
        </p:txBody>
      </p:sp>
      <p:sp>
        <p:nvSpPr>
          <p:cNvPr id="5" name="Text 3"/>
          <p:cNvSpPr/>
          <p:nvPr/>
        </p:nvSpPr>
        <p:spPr>
          <a:xfrm>
            <a:off x="822960" y="1143000"/>
            <a:ext cx="10515600" cy="822960"/>
          </a:xfrm>
          <a:prstGeom prst="rect">
            <a:avLst/>
          </a:prstGeom>
          <a:noFill/>
          <a:ln/>
        </p:spPr>
        <p:txBody>
          <a:bodyPr wrap="square" rtlCol="0" anchor="ctr"/>
          <a:lstStyle/>
          <a:p>
            <a:pPr indent="0" marL="0">
              <a:buNone/>
            </a:pPr>
            <a:r>
              <a:rPr lang="en-US" sz="1350" dirty="0">
                <a:solidFill>
                  <a:srgbClr val="1A1A1A"/>
                </a:solidFill>
                <a:latin typeface="Calibri" pitchFamily="34" charset="0"/>
                <a:ea typeface="Calibri" pitchFamily="34" charset="-122"/>
                <a:cs typeface="Calibri" pitchFamily="34" charset="-120"/>
              </a:rPr>
              <a:t>RNA-seq, Proteomics, and miRNA-seq were largely complete (&lt;5% missingness); Methylation and Proteomics showed real, expected platform-typical missingness, addressed with a &lt;50%/&lt;30% feature filter + KNN imputation (k=10).</a:t>
            </a:r>
            <a:endParaRPr lang="en-US" sz="1350" dirty="0"/>
          </a:p>
        </p:txBody>
      </p:sp>
      <p:sp>
        <p:nvSpPr>
          <p:cNvPr id="6" name="Shape 4"/>
          <p:cNvSpPr/>
          <p:nvPr/>
        </p:nvSpPr>
        <p:spPr>
          <a:xfrm>
            <a:off x="2542032" y="1993392"/>
            <a:ext cx="7077456" cy="3785616"/>
          </a:xfrm>
          <a:prstGeom prst="roundRect">
            <a:avLst>
              <a:gd name="adj" fmla="val 1449"/>
            </a:avLst>
          </a:prstGeom>
          <a:solidFill>
            <a:srgbClr val="FFFFFF"/>
          </a:solidFill>
          <a:ln w="12700">
            <a:solidFill>
              <a:srgbClr val="E3E8EA"/>
            </a:solidFill>
            <a:prstDash val="solid"/>
          </a:ln>
          <a:effectLst>
            <a:outerShdw sx="100000" sy="100000" kx="0" ky="0" algn="bl" rotWithShape="0" blurRad="76200" dist="38100" dir="5400000">
              <a:srgbClr val="9AA5AA">
                <a:alpha val="35000"/>
              </a:srgbClr>
            </a:outerShdw>
          </a:effectLst>
        </p:spPr>
      </p:sp>
      <p:pic>
        <p:nvPicPr>
          <p:cNvPr id="7" name="Image 0" descr="/home/claude/deck_images/meth_transform.jpeg">    </p:cNvPr>
          <p:cNvPicPr>
            <a:picLocks noChangeAspect="1"/>
          </p:cNvPicPr>
          <p:nvPr/>
        </p:nvPicPr>
        <p:blipFill>
          <a:blip r:embed="rId1"/>
          <a:srcRect l="0" r="0" t="0" b="0"/>
          <a:stretch/>
        </p:blipFill>
        <p:spPr>
          <a:xfrm>
            <a:off x="2651760" y="2103120"/>
            <a:ext cx="6858000" cy="3566160"/>
          </a:xfrm>
          <a:prstGeom prst="rect">
            <a:avLst/>
          </a:prstGeom>
        </p:spPr>
      </p:pic>
      <p:sp>
        <p:nvSpPr>
          <p:cNvPr id="8" name="Shape 5"/>
          <p:cNvSpPr/>
          <p:nvPr/>
        </p:nvSpPr>
        <p:spPr>
          <a:xfrm>
            <a:off x="822960" y="5989320"/>
            <a:ext cx="10515600" cy="594360"/>
          </a:xfrm>
          <a:prstGeom prst="roundRect">
            <a:avLst>
              <a:gd name="adj" fmla="val 9231"/>
            </a:avLst>
          </a:prstGeom>
          <a:solidFill>
            <a:srgbClr val="E6F3F2"/>
          </a:solidFill>
          <a:ln/>
        </p:spPr>
      </p:sp>
      <p:sp>
        <p:nvSpPr>
          <p:cNvPr id="9" name="Text 6"/>
          <p:cNvSpPr/>
          <p:nvPr/>
        </p:nvSpPr>
        <p:spPr>
          <a:xfrm>
            <a:off x="1051560" y="5989320"/>
            <a:ext cx="10058400" cy="594360"/>
          </a:xfrm>
          <a:prstGeom prst="rect">
            <a:avLst/>
          </a:prstGeom>
          <a:noFill/>
          <a:ln/>
        </p:spPr>
        <p:txBody>
          <a:bodyPr wrap="square" rtlCol="0" anchor="ctr"/>
          <a:lstStyle/>
          <a:p>
            <a:pPr indent="0" marL="0">
              <a:buNone/>
            </a:pPr>
            <a:r>
              <a:rPr lang="en-US" sz="1250" b="1" i="1" dirty="0">
                <a:solidFill>
                  <a:srgbClr val="0B3142"/>
                </a:solidFill>
                <a:latin typeface="Calibri" pitchFamily="34" charset="0"/>
                <a:ea typeface="Calibri" pitchFamily="34" charset="-122"/>
                <a:cs typeface="Calibri" pitchFamily="34" charset="-120"/>
              </a:rPr>
              <a:t>Why this matters: methylation beta values are bounded proportions [0,1] with unequal variance across that range — the M-value (logit) transform is the statistically correct input for MOFA's Gaussian model, not raw beta or plain log2.</a:t>
            </a:r>
            <a:endParaRPr lang="en-US" sz="1250" dirty="0"/>
          </a:p>
        </p:txBody>
      </p:sp>
      <p:sp>
        <p:nvSpPr>
          <p:cNvPr id="10" name="Text 7"/>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770"/>
                </a:solidFill>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28090"/>
          </a:solidFill>
          <a:ln/>
        </p:spPr>
      </p:sp>
      <p:sp>
        <p:nvSpPr>
          <p:cNvPr id="3" name="Text 1"/>
          <p:cNvSpPr/>
          <p:nvPr/>
        </p:nvSpPr>
        <p:spPr>
          <a:xfrm>
            <a:off x="457200" y="411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p:nvPr/>
        </p:nvSpPr>
        <p:spPr>
          <a:xfrm>
            <a:off x="1051560" y="320040"/>
            <a:ext cx="10607040" cy="777240"/>
          </a:xfrm>
          <a:prstGeom prst="rect">
            <a:avLst/>
          </a:prstGeom>
          <a:noFill/>
          <a:ln/>
        </p:spPr>
        <p:txBody>
          <a:bodyPr wrap="square" lIns="0" tIns="0" rIns="0" bIns="0" rtlCol="0" anchor="ctr"/>
          <a:lstStyle/>
          <a:p>
            <a:pPr algn="l" indent="0" marL="0">
              <a:buNone/>
            </a:pPr>
            <a:r>
              <a:rPr lang="en-US" sz="3000" b="1" dirty="0">
                <a:solidFill>
                  <a:srgbClr val="0B3142"/>
                </a:solidFill>
                <a:latin typeface="Cambria" pitchFamily="34" charset="0"/>
                <a:ea typeface="Cambria" pitchFamily="34" charset="-122"/>
                <a:cs typeface="Cambria" pitchFamily="34" charset="-120"/>
              </a:rPr>
              <a:t>Quality Control: Per-Layer PCA — Outlier Screening</a:t>
            </a:r>
            <a:endParaRPr lang="en-US" sz="3000" dirty="0"/>
          </a:p>
        </p:txBody>
      </p:sp>
      <p:sp>
        <p:nvSpPr>
          <p:cNvPr id="5" name="Shape 3"/>
          <p:cNvSpPr/>
          <p:nvPr/>
        </p:nvSpPr>
        <p:spPr>
          <a:xfrm>
            <a:off x="530352" y="1124712"/>
            <a:ext cx="5431536" cy="2642616"/>
          </a:xfrm>
          <a:prstGeom prst="roundRect">
            <a:avLst>
              <a:gd name="adj" fmla="val 2076"/>
            </a:avLst>
          </a:prstGeom>
          <a:solidFill>
            <a:srgbClr val="FFFFFF"/>
          </a:solidFill>
          <a:ln w="12700">
            <a:solidFill>
              <a:srgbClr val="E3E8EA"/>
            </a:solidFill>
            <a:prstDash val="solid"/>
          </a:ln>
          <a:effectLst>
            <a:outerShdw sx="100000" sy="100000" kx="0" ky="0" algn="bl" rotWithShape="0" blurRad="76200" dist="38100" dir="5400000">
              <a:srgbClr val="9AA5AA">
                <a:alpha val="35000"/>
              </a:srgbClr>
            </a:outerShdw>
          </a:effectLst>
        </p:spPr>
      </p:sp>
      <p:pic>
        <p:nvPicPr>
          <p:cNvPr id="6" name="Image 0" descr="/home/claude/deck_images/pca_rna.jpeg">    </p:cNvPr>
          <p:cNvPicPr>
            <a:picLocks noChangeAspect="1"/>
          </p:cNvPicPr>
          <p:nvPr/>
        </p:nvPicPr>
        <p:blipFill>
          <a:blip r:embed="rId1"/>
          <a:srcRect l="0" r="0" t="0" b="0"/>
          <a:stretch/>
        </p:blipFill>
        <p:spPr>
          <a:xfrm>
            <a:off x="640080" y="1234440"/>
            <a:ext cx="5212080" cy="2423160"/>
          </a:xfrm>
          <a:prstGeom prst="rect">
            <a:avLst/>
          </a:prstGeom>
        </p:spPr>
      </p:pic>
      <p:sp>
        <p:nvSpPr>
          <p:cNvPr id="7" name="Shape 4"/>
          <p:cNvSpPr/>
          <p:nvPr/>
        </p:nvSpPr>
        <p:spPr>
          <a:xfrm>
            <a:off x="6245352" y="1124712"/>
            <a:ext cx="5431536" cy="2642616"/>
          </a:xfrm>
          <a:prstGeom prst="roundRect">
            <a:avLst>
              <a:gd name="adj" fmla="val 2076"/>
            </a:avLst>
          </a:prstGeom>
          <a:solidFill>
            <a:srgbClr val="FFFFFF"/>
          </a:solidFill>
          <a:ln w="12700">
            <a:solidFill>
              <a:srgbClr val="E3E8EA"/>
            </a:solidFill>
            <a:prstDash val="solid"/>
          </a:ln>
          <a:effectLst>
            <a:outerShdw sx="100000" sy="100000" kx="0" ky="0" algn="bl" rotWithShape="0" blurRad="76200" dist="38100" dir="5400000">
              <a:srgbClr val="9AA5AA">
                <a:alpha val="35000"/>
              </a:srgbClr>
            </a:outerShdw>
          </a:effectLst>
        </p:spPr>
      </p:sp>
      <p:pic>
        <p:nvPicPr>
          <p:cNvPr id="8" name="Image 1" descr="/home/claude/deck_images/pca_prot.jpeg">    </p:cNvPr>
          <p:cNvPicPr>
            <a:picLocks noChangeAspect="1"/>
          </p:cNvPicPr>
          <p:nvPr/>
        </p:nvPicPr>
        <p:blipFill>
          <a:blip r:embed="rId2"/>
          <a:srcRect l="0" r="0" t="0" b="0"/>
          <a:stretch/>
        </p:blipFill>
        <p:spPr>
          <a:xfrm>
            <a:off x="6355080" y="1234440"/>
            <a:ext cx="5212080" cy="2423160"/>
          </a:xfrm>
          <a:prstGeom prst="rect">
            <a:avLst/>
          </a:prstGeom>
        </p:spPr>
      </p:pic>
      <p:sp>
        <p:nvSpPr>
          <p:cNvPr id="9" name="Shape 5"/>
          <p:cNvSpPr/>
          <p:nvPr/>
        </p:nvSpPr>
        <p:spPr>
          <a:xfrm>
            <a:off x="530352" y="3685032"/>
            <a:ext cx="5431536" cy="2642616"/>
          </a:xfrm>
          <a:prstGeom prst="roundRect">
            <a:avLst>
              <a:gd name="adj" fmla="val 2076"/>
            </a:avLst>
          </a:prstGeom>
          <a:solidFill>
            <a:srgbClr val="FFFFFF"/>
          </a:solidFill>
          <a:ln w="12700">
            <a:solidFill>
              <a:srgbClr val="E3E8EA"/>
            </a:solidFill>
            <a:prstDash val="solid"/>
          </a:ln>
          <a:effectLst>
            <a:outerShdw sx="100000" sy="100000" kx="0" ky="0" algn="bl" rotWithShape="0" blurRad="76200" dist="38100" dir="5400000">
              <a:srgbClr val="9AA5AA">
                <a:alpha val="35000"/>
              </a:srgbClr>
            </a:outerShdw>
          </a:effectLst>
        </p:spPr>
      </p:sp>
      <p:pic>
        <p:nvPicPr>
          <p:cNvPr id="10" name="Image 2" descr="/home/claude/deck_images/pca_meth.jpeg">    </p:cNvPr>
          <p:cNvPicPr>
            <a:picLocks noChangeAspect="1"/>
          </p:cNvPicPr>
          <p:nvPr/>
        </p:nvPicPr>
        <p:blipFill>
          <a:blip r:embed="rId3"/>
          <a:srcRect l="0" r="0" t="0" b="0"/>
          <a:stretch/>
        </p:blipFill>
        <p:spPr>
          <a:xfrm>
            <a:off x="640080" y="3794760"/>
            <a:ext cx="5212080" cy="2423160"/>
          </a:xfrm>
          <a:prstGeom prst="rect">
            <a:avLst/>
          </a:prstGeom>
        </p:spPr>
      </p:pic>
      <p:sp>
        <p:nvSpPr>
          <p:cNvPr id="11" name="Shape 6"/>
          <p:cNvSpPr/>
          <p:nvPr/>
        </p:nvSpPr>
        <p:spPr>
          <a:xfrm>
            <a:off x="6245352" y="3685032"/>
            <a:ext cx="5431536" cy="2642616"/>
          </a:xfrm>
          <a:prstGeom prst="roundRect">
            <a:avLst>
              <a:gd name="adj" fmla="val 2076"/>
            </a:avLst>
          </a:prstGeom>
          <a:solidFill>
            <a:srgbClr val="FFFFFF"/>
          </a:solidFill>
          <a:ln w="12700">
            <a:solidFill>
              <a:srgbClr val="E3E8EA"/>
            </a:solidFill>
            <a:prstDash val="solid"/>
          </a:ln>
          <a:effectLst>
            <a:outerShdw sx="100000" sy="100000" kx="0" ky="0" algn="bl" rotWithShape="0" blurRad="76200" dist="38100" dir="5400000">
              <a:srgbClr val="9AA5AA">
                <a:alpha val="35000"/>
              </a:srgbClr>
            </a:outerShdw>
          </a:effectLst>
        </p:spPr>
      </p:sp>
      <p:pic>
        <p:nvPicPr>
          <p:cNvPr id="12" name="Image 3" descr="/home/claude/deck_images/pca_mirna.jpeg">    </p:cNvPr>
          <p:cNvPicPr>
            <a:picLocks noChangeAspect="1"/>
          </p:cNvPicPr>
          <p:nvPr/>
        </p:nvPicPr>
        <p:blipFill>
          <a:blip r:embed="rId4"/>
          <a:srcRect l="0" r="0" t="0" b="0"/>
          <a:stretch/>
        </p:blipFill>
        <p:spPr>
          <a:xfrm>
            <a:off x="6355080" y="3794760"/>
            <a:ext cx="5212080" cy="2423160"/>
          </a:xfrm>
          <a:prstGeom prst="rect">
            <a:avLst/>
          </a:prstGeom>
        </p:spPr>
      </p:pic>
      <p:sp>
        <p:nvSpPr>
          <p:cNvPr id="13" name="Shape 7"/>
          <p:cNvSpPr/>
          <p:nvPr/>
        </p:nvSpPr>
        <p:spPr>
          <a:xfrm>
            <a:off x="6245352" y="3685032"/>
            <a:ext cx="5440680" cy="2642616"/>
          </a:xfrm>
          <a:prstGeom prst="roundRect">
            <a:avLst>
              <a:gd name="adj" fmla="val 2768"/>
            </a:avLst>
          </a:prstGeom>
          <a:noFill/>
          <a:ln w="38100">
            <a:solidFill>
              <a:srgbClr val="E85D04"/>
            </a:solidFill>
            <a:prstDash val="solid"/>
          </a:ln>
        </p:spPr>
      </p:sp>
      <p:sp>
        <p:nvSpPr>
          <p:cNvPr id="14" name="Text 8"/>
          <p:cNvSpPr/>
          <p:nvPr/>
        </p:nvSpPr>
        <p:spPr>
          <a:xfrm>
            <a:off x="9692640" y="3749040"/>
            <a:ext cx="1828800" cy="320040"/>
          </a:xfrm>
          <a:prstGeom prst="rect">
            <a:avLst/>
          </a:prstGeom>
          <a:noFill/>
          <a:ln/>
        </p:spPr>
        <p:txBody>
          <a:bodyPr wrap="square" rtlCol="0" anchor="ctr"/>
          <a:lstStyle/>
          <a:p>
            <a:pPr algn="r" indent="0" marL="0">
              <a:buNone/>
            </a:pPr>
            <a:r>
              <a:rPr lang="en-US" sz="1300" b="1" dirty="0">
                <a:solidFill>
                  <a:srgbClr val="E85D04"/>
                </a:solidFill>
                <a:latin typeface="Calibri" pitchFamily="34" charset="0"/>
                <a:ea typeface="Calibri" pitchFamily="34" charset="-122"/>
                <a:cs typeface="Calibri" pitchFamily="34" charset="-120"/>
              </a:rPr>
              <a:t>⚠ PC1 = 61.3%</a:t>
            </a:r>
            <a:endParaRPr lang="en-US" sz="1300" dirty="0"/>
          </a:p>
        </p:txBody>
      </p:sp>
      <p:sp>
        <p:nvSpPr>
          <p:cNvPr id="15" name="Text 9"/>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770"/>
                </a:solidFill>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28090"/>
          </a:solidFill>
          <a:ln/>
        </p:spPr>
      </p:sp>
      <p:sp>
        <p:nvSpPr>
          <p:cNvPr id="3" name="Text 1"/>
          <p:cNvSpPr/>
          <p:nvPr/>
        </p:nvSpPr>
        <p:spPr>
          <a:xfrm>
            <a:off x="457200" y="411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p:nvPr/>
        </p:nvSpPr>
        <p:spPr>
          <a:xfrm>
            <a:off x="1051560" y="320040"/>
            <a:ext cx="10607040" cy="777240"/>
          </a:xfrm>
          <a:prstGeom prst="rect">
            <a:avLst/>
          </a:prstGeom>
          <a:noFill/>
          <a:ln/>
        </p:spPr>
        <p:txBody>
          <a:bodyPr wrap="square" lIns="0" tIns="0" rIns="0" bIns="0" rtlCol="0" anchor="ctr"/>
          <a:lstStyle/>
          <a:p>
            <a:pPr algn="l" indent="0" marL="0">
              <a:buNone/>
            </a:pPr>
            <a:r>
              <a:rPr lang="en-US" sz="3000" b="1" dirty="0">
                <a:solidFill>
                  <a:srgbClr val="0B3142"/>
                </a:solidFill>
                <a:latin typeface="Cambria" pitchFamily="34" charset="0"/>
                <a:ea typeface="Cambria" pitchFamily="34" charset="-122"/>
                <a:cs typeface="Cambria" pitchFamily="34" charset="-120"/>
              </a:rPr>
              <a:t>Confirming the Methylation Outlier Signal</a:t>
            </a:r>
            <a:endParaRPr lang="en-US" sz="3000" dirty="0"/>
          </a:p>
        </p:txBody>
      </p:sp>
      <p:sp>
        <p:nvSpPr>
          <p:cNvPr id="5" name="Shape 3"/>
          <p:cNvSpPr/>
          <p:nvPr/>
        </p:nvSpPr>
        <p:spPr>
          <a:xfrm>
            <a:off x="530352" y="1124712"/>
            <a:ext cx="5431536" cy="4791456"/>
          </a:xfrm>
          <a:prstGeom prst="roundRect">
            <a:avLst>
              <a:gd name="adj" fmla="val 1145"/>
            </a:avLst>
          </a:prstGeom>
          <a:solidFill>
            <a:srgbClr val="FFFFFF"/>
          </a:solidFill>
          <a:ln w="12700">
            <a:solidFill>
              <a:srgbClr val="E3E8EA"/>
            </a:solidFill>
            <a:prstDash val="solid"/>
          </a:ln>
          <a:effectLst>
            <a:outerShdw sx="100000" sy="100000" kx="0" ky="0" algn="bl" rotWithShape="0" blurRad="76200" dist="38100" dir="5400000">
              <a:srgbClr val="9AA5AA">
                <a:alpha val="35000"/>
              </a:srgbClr>
            </a:outerShdw>
          </a:effectLst>
        </p:spPr>
      </p:sp>
      <p:pic>
        <p:nvPicPr>
          <p:cNvPr id="6" name="Image 0" descr="/home/claude/deck_images/corr_meth.jpeg">    </p:cNvPr>
          <p:cNvPicPr>
            <a:picLocks noChangeAspect="1"/>
          </p:cNvPicPr>
          <p:nvPr/>
        </p:nvPicPr>
        <p:blipFill>
          <a:blip r:embed="rId1"/>
          <a:srcRect l="0" r="0" t="0" b="0"/>
          <a:stretch/>
        </p:blipFill>
        <p:spPr>
          <a:xfrm>
            <a:off x="640080" y="1234440"/>
            <a:ext cx="5212080" cy="4572000"/>
          </a:xfrm>
          <a:prstGeom prst="rect">
            <a:avLst/>
          </a:prstGeom>
        </p:spPr>
      </p:pic>
      <p:sp>
        <p:nvSpPr>
          <p:cNvPr id="7" name="Shape 4"/>
          <p:cNvSpPr/>
          <p:nvPr/>
        </p:nvSpPr>
        <p:spPr>
          <a:xfrm>
            <a:off x="6245352" y="1124712"/>
            <a:ext cx="5431536" cy="4791456"/>
          </a:xfrm>
          <a:prstGeom prst="roundRect">
            <a:avLst>
              <a:gd name="adj" fmla="val 1145"/>
            </a:avLst>
          </a:prstGeom>
          <a:solidFill>
            <a:srgbClr val="FFFFFF"/>
          </a:solidFill>
          <a:ln w="12700">
            <a:solidFill>
              <a:srgbClr val="E3E8EA"/>
            </a:solidFill>
            <a:prstDash val="solid"/>
          </a:ln>
          <a:effectLst>
            <a:outerShdw sx="100000" sy="100000" kx="0" ky="0" algn="bl" rotWithShape="0" blurRad="76200" dist="38100" dir="5400000">
              <a:srgbClr val="9AA5AA">
                <a:alpha val="35000"/>
              </a:srgbClr>
            </a:outerShdw>
          </a:effectLst>
        </p:spPr>
      </p:sp>
      <p:pic>
        <p:nvPicPr>
          <p:cNvPr id="8" name="Image 1" descr="/home/claude/deck_images/clust_meth.jpeg">    </p:cNvPr>
          <p:cNvPicPr>
            <a:picLocks noChangeAspect="1"/>
          </p:cNvPicPr>
          <p:nvPr/>
        </p:nvPicPr>
        <p:blipFill>
          <a:blip r:embed="rId2"/>
          <a:srcRect l="0" r="0" t="0" b="0"/>
          <a:stretch/>
        </p:blipFill>
        <p:spPr>
          <a:xfrm>
            <a:off x="6355080" y="1234440"/>
            <a:ext cx="5212080" cy="4572000"/>
          </a:xfrm>
          <a:prstGeom prst="rect">
            <a:avLst/>
          </a:prstGeom>
        </p:spPr>
      </p:pic>
      <p:sp>
        <p:nvSpPr>
          <p:cNvPr id="9" name="Text 5"/>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770"/>
                </a:solidFill>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3142"/>
        </a:solidFill>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FFFFFF"/>
          </a:solidFill>
          <a:ln/>
        </p:spPr>
      </p:sp>
      <p:sp>
        <p:nvSpPr>
          <p:cNvPr id="3" name="Text 1"/>
          <p:cNvSpPr/>
          <p:nvPr/>
        </p:nvSpPr>
        <p:spPr>
          <a:xfrm>
            <a:off x="457200" y="411480"/>
            <a:ext cx="457200" cy="457200"/>
          </a:xfrm>
          <a:prstGeom prst="rect">
            <a:avLst/>
          </a:prstGeom>
          <a:noFill/>
          <a:ln/>
        </p:spPr>
        <p:txBody>
          <a:bodyPr wrap="square" lIns="0" tIns="0" rIns="0" bIns="0" rtlCol="0" anchor="ctr"/>
          <a:lstStyle/>
          <a:p>
            <a:pPr algn="ctr" indent="0" marL="0">
              <a:buNone/>
            </a:pPr>
            <a:r>
              <a:rPr lang="en-US" sz="1600" b="1" dirty="0">
                <a:solidFill>
                  <a:srgbClr val="0B3142"/>
                </a:solidFill>
                <a:latin typeface="Calibri" pitchFamily="34" charset="0"/>
                <a:ea typeface="Calibri" pitchFamily="34" charset="-122"/>
                <a:cs typeface="Calibri" pitchFamily="34" charset="-120"/>
              </a:rPr>
              <a:t>7</a:t>
            </a:r>
            <a:endParaRPr lang="en-US" sz="1600" dirty="0"/>
          </a:p>
        </p:txBody>
      </p:sp>
      <p:sp>
        <p:nvSpPr>
          <p:cNvPr id="4" name="Text 2"/>
          <p:cNvSpPr/>
          <p:nvPr/>
        </p:nvSpPr>
        <p:spPr>
          <a:xfrm>
            <a:off x="1051560" y="365760"/>
            <a:ext cx="10058400" cy="640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Building the MOFA Model</a:t>
            </a:r>
            <a:endParaRPr lang="en-US" sz="2800" dirty="0"/>
          </a:p>
        </p:txBody>
      </p:sp>
      <p:sp>
        <p:nvSpPr>
          <p:cNvPr id="5" name="Shape 3"/>
          <p:cNvSpPr/>
          <p:nvPr/>
        </p:nvSpPr>
        <p:spPr>
          <a:xfrm>
            <a:off x="3566160" y="1234440"/>
            <a:ext cx="5029200" cy="5120640"/>
          </a:xfrm>
          <a:prstGeom prst="roundRect">
            <a:avLst>
              <a:gd name="adj" fmla="val 909"/>
            </a:avLst>
          </a:prstGeom>
          <a:solidFill>
            <a:srgbClr val="FFFFFF"/>
          </a:solidFill>
          <a:ln/>
          <a:effectLst>
            <a:outerShdw sx="100000" sy="100000" kx="0" ky="0" algn="bl" rotWithShape="0" blurRad="127000" dist="50800" dir="5400000">
              <a:srgbClr val="000000">
                <a:alpha val="40000"/>
              </a:srgbClr>
            </a:outerShdw>
          </a:effectLst>
        </p:spPr>
      </p:sp>
      <p:pic>
        <p:nvPicPr>
          <p:cNvPr id="6" name="Image 0" descr="/home/claude/deck_images/mofa_overview.png">    </p:cNvPr>
          <p:cNvPicPr>
            <a:picLocks noChangeAspect="1"/>
          </p:cNvPicPr>
          <p:nvPr/>
        </p:nvPicPr>
        <p:blipFill>
          <a:blip r:embed="rId1"/>
          <a:srcRect l="0" r="0" t="0" b="0"/>
          <a:stretch/>
        </p:blipFill>
        <p:spPr>
          <a:xfrm>
            <a:off x="3657600" y="1325880"/>
            <a:ext cx="4846320" cy="4937760"/>
          </a:xfrm>
          <a:prstGeom prst="rect">
            <a:avLst/>
          </a:prstGeom>
        </p:spPr>
      </p:pic>
      <p:sp>
        <p:nvSpPr>
          <p:cNvPr id="7" name="Text 4"/>
          <p:cNvSpPr/>
          <p:nvPr/>
        </p:nvSpPr>
        <p:spPr>
          <a:xfrm>
            <a:off x="822960" y="6446520"/>
            <a:ext cx="10515600" cy="320040"/>
          </a:xfrm>
          <a:prstGeom prst="rect">
            <a:avLst/>
          </a:prstGeom>
          <a:noFill/>
          <a:ln/>
        </p:spPr>
        <p:txBody>
          <a:bodyPr wrap="square" rtlCol="0" anchor="ctr"/>
          <a:lstStyle/>
          <a:p>
            <a:pPr algn="ctr" indent="0" marL="0">
              <a:buNone/>
            </a:pPr>
            <a:r>
              <a:rPr lang="en-US" sz="1300" b="1" dirty="0">
                <a:solidFill>
                  <a:srgbClr val="02C39A"/>
                </a:solidFill>
                <a:latin typeface="Calibri" pitchFamily="34" charset="0"/>
                <a:ea typeface="Calibri" pitchFamily="34" charset="-122"/>
                <a:cs typeface="Calibri" pitchFamily="34" charset="-120"/>
              </a:rPr>
              <a:t>5 views  ·  96 samples  ·  0 missing  ·  10 factors requested</a:t>
            </a:r>
            <a:endParaRPr lang="en-US" sz="1300" dirty="0"/>
          </a:p>
        </p:txBody>
      </p:sp>
      <p:sp>
        <p:nvSpPr>
          <p:cNvPr id="8" name="Text 5"/>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770"/>
                </a:solidFill>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28090"/>
          </a:solidFill>
          <a:ln/>
        </p:spPr>
      </p:sp>
      <p:sp>
        <p:nvSpPr>
          <p:cNvPr id="3" name="Text 1"/>
          <p:cNvSpPr/>
          <p:nvPr/>
        </p:nvSpPr>
        <p:spPr>
          <a:xfrm>
            <a:off x="457200" y="411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4" name="Text 2"/>
          <p:cNvSpPr/>
          <p:nvPr/>
        </p:nvSpPr>
        <p:spPr>
          <a:xfrm>
            <a:off x="1051560" y="320040"/>
            <a:ext cx="10607040" cy="777240"/>
          </a:xfrm>
          <a:prstGeom prst="rect">
            <a:avLst/>
          </a:prstGeom>
          <a:noFill/>
          <a:ln/>
        </p:spPr>
        <p:txBody>
          <a:bodyPr wrap="square" lIns="0" tIns="0" rIns="0" bIns="0" rtlCol="0" anchor="ctr"/>
          <a:lstStyle/>
          <a:p>
            <a:pPr algn="l" indent="0" marL="0">
              <a:buNone/>
            </a:pPr>
            <a:r>
              <a:rPr lang="en-US" sz="3000" b="1" dirty="0">
                <a:solidFill>
                  <a:srgbClr val="0B3142"/>
                </a:solidFill>
                <a:latin typeface="Cambria" pitchFamily="34" charset="0"/>
                <a:ea typeface="Cambria" pitchFamily="34" charset="-122"/>
                <a:cs typeface="Cambria" pitchFamily="34" charset="-120"/>
              </a:rPr>
              <a:t>Differential Analysis: EGFR-Mutant vs. Wildtype</a:t>
            </a:r>
            <a:endParaRPr lang="en-US" sz="3000" dirty="0"/>
          </a:p>
        </p:txBody>
      </p:sp>
      <p:sp>
        <p:nvSpPr>
          <p:cNvPr id="5" name="Text 3"/>
          <p:cNvSpPr/>
          <p:nvPr/>
        </p:nvSpPr>
        <p:spPr>
          <a:xfrm>
            <a:off x="822960" y="1097280"/>
            <a:ext cx="10515600" cy="365760"/>
          </a:xfrm>
          <a:prstGeom prst="rect">
            <a:avLst/>
          </a:prstGeom>
          <a:noFill/>
          <a:ln/>
        </p:spPr>
        <p:txBody>
          <a:bodyPr wrap="square" rtlCol="0" anchor="ctr"/>
          <a:lstStyle/>
          <a:p>
            <a:pPr indent="0" marL="0">
              <a:buNone/>
            </a:pPr>
            <a:r>
              <a:rPr lang="en-US" sz="1300" i="1" dirty="0">
                <a:solidFill>
                  <a:srgbClr val="5B6770"/>
                </a:solidFill>
                <a:latin typeface="Calibri" pitchFamily="34" charset="0"/>
                <a:ea typeface="Calibri" pitchFamily="34" charset="-122"/>
                <a:cs typeface="Calibri" pitchFamily="34" charset="-120"/>
              </a:rPr>
              <a:t>A shared limma-based function was applied identically across all 4 continuous omics layers (FDR&lt;0.05, |log2FC|&gt;1)</a:t>
            </a:r>
            <a:endParaRPr lang="en-US" sz="1300" dirty="0"/>
          </a:p>
        </p:txBody>
      </p:sp>
      <p:sp>
        <p:nvSpPr>
          <p:cNvPr id="6" name="Shape 4"/>
          <p:cNvSpPr/>
          <p:nvPr/>
        </p:nvSpPr>
        <p:spPr>
          <a:xfrm>
            <a:off x="1645920" y="1737360"/>
            <a:ext cx="8869680" cy="621792"/>
          </a:xfrm>
          <a:prstGeom prst="rect">
            <a:avLst/>
          </a:prstGeom>
          <a:solidFill>
            <a:srgbClr val="028090"/>
          </a:solidFill>
          <a:ln w="6350">
            <a:solidFill>
              <a:srgbClr val="E3E8EA"/>
            </a:solidFill>
            <a:prstDash val="solid"/>
          </a:ln>
        </p:spPr>
      </p:sp>
      <p:sp>
        <p:nvSpPr>
          <p:cNvPr id="7" name="Text 5"/>
          <p:cNvSpPr/>
          <p:nvPr/>
        </p:nvSpPr>
        <p:spPr>
          <a:xfrm>
            <a:off x="1645920" y="1737360"/>
            <a:ext cx="3291840" cy="62179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Layer</a:t>
            </a:r>
            <a:endParaRPr lang="en-US" sz="1400" dirty="0"/>
          </a:p>
        </p:txBody>
      </p:sp>
      <p:sp>
        <p:nvSpPr>
          <p:cNvPr id="8" name="Text 6"/>
          <p:cNvSpPr/>
          <p:nvPr/>
        </p:nvSpPr>
        <p:spPr>
          <a:xfrm>
            <a:off x="4937760" y="1737360"/>
            <a:ext cx="2926080" cy="62179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Features Tested</a:t>
            </a:r>
            <a:endParaRPr lang="en-US" sz="1400" dirty="0"/>
          </a:p>
        </p:txBody>
      </p:sp>
      <p:sp>
        <p:nvSpPr>
          <p:cNvPr id="9" name="Text 7"/>
          <p:cNvSpPr/>
          <p:nvPr/>
        </p:nvSpPr>
        <p:spPr>
          <a:xfrm>
            <a:off x="7863840" y="1737360"/>
            <a:ext cx="2651760" cy="62179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Significant Hits</a:t>
            </a:r>
            <a:endParaRPr lang="en-US" sz="1400" dirty="0"/>
          </a:p>
        </p:txBody>
      </p:sp>
      <p:sp>
        <p:nvSpPr>
          <p:cNvPr id="10" name="Shape 8"/>
          <p:cNvSpPr/>
          <p:nvPr/>
        </p:nvSpPr>
        <p:spPr>
          <a:xfrm>
            <a:off x="1645920" y="2359152"/>
            <a:ext cx="8869680" cy="621792"/>
          </a:xfrm>
          <a:prstGeom prst="rect">
            <a:avLst/>
          </a:prstGeom>
          <a:solidFill>
            <a:srgbClr val="FFFFFF"/>
          </a:solidFill>
          <a:ln w="6350">
            <a:solidFill>
              <a:srgbClr val="E3E8EA"/>
            </a:solidFill>
            <a:prstDash val="solid"/>
          </a:ln>
        </p:spPr>
      </p:sp>
      <p:sp>
        <p:nvSpPr>
          <p:cNvPr id="11" name="Text 9"/>
          <p:cNvSpPr/>
          <p:nvPr/>
        </p:nvSpPr>
        <p:spPr>
          <a:xfrm>
            <a:off x="1645920" y="2359152"/>
            <a:ext cx="3291840" cy="621792"/>
          </a:xfrm>
          <a:prstGeom prst="rect">
            <a:avLst/>
          </a:prstGeom>
          <a:noFill/>
          <a:ln/>
        </p:spPr>
        <p:txBody>
          <a:bodyPr wrap="square" rtlCol="0" anchor="ctr"/>
          <a:lstStyle/>
          <a:p>
            <a:pPr algn="ctr" indent="0" marL="0">
              <a:buNone/>
            </a:pPr>
            <a:r>
              <a:rPr lang="en-US" sz="1400" b="1" dirty="0">
                <a:solidFill>
                  <a:srgbClr val="E85D04"/>
                </a:solidFill>
                <a:latin typeface="Calibri" pitchFamily="34" charset="0"/>
                <a:ea typeface="Calibri" pitchFamily="34" charset="-122"/>
                <a:cs typeface="Calibri" pitchFamily="34" charset="-120"/>
              </a:rPr>
              <a:t>RNA-seq</a:t>
            </a:r>
            <a:endParaRPr lang="en-US" sz="1400" dirty="0"/>
          </a:p>
        </p:txBody>
      </p:sp>
      <p:sp>
        <p:nvSpPr>
          <p:cNvPr id="12" name="Text 10"/>
          <p:cNvSpPr/>
          <p:nvPr/>
        </p:nvSpPr>
        <p:spPr>
          <a:xfrm>
            <a:off x="4937760" y="2359152"/>
            <a:ext cx="2926080" cy="621792"/>
          </a:xfrm>
          <a:prstGeom prst="rect">
            <a:avLst/>
          </a:prstGeom>
          <a:noFill/>
          <a:ln/>
        </p:spPr>
        <p:txBody>
          <a:bodyPr wrap="square" rtlCol="0" anchor="ctr"/>
          <a:lstStyle/>
          <a:p>
            <a:pPr algn="ctr" indent="0" marL="0">
              <a:buNone/>
            </a:pPr>
            <a:r>
              <a:rPr lang="en-US" sz="1400" b="1" dirty="0">
                <a:solidFill>
                  <a:srgbClr val="E85D04"/>
                </a:solidFill>
                <a:latin typeface="Calibri" pitchFamily="34" charset="0"/>
                <a:ea typeface="Calibri" pitchFamily="34" charset="-122"/>
                <a:cs typeface="Calibri" pitchFamily="34" charset="-120"/>
              </a:rPr>
              <a:t>32,635</a:t>
            </a:r>
            <a:endParaRPr lang="en-US" sz="1400" dirty="0"/>
          </a:p>
        </p:txBody>
      </p:sp>
      <p:sp>
        <p:nvSpPr>
          <p:cNvPr id="13" name="Text 11"/>
          <p:cNvSpPr/>
          <p:nvPr/>
        </p:nvSpPr>
        <p:spPr>
          <a:xfrm>
            <a:off x="7863840" y="2359152"/>
            <a:ext cx="2651760" cy="621792"/>
          </a:xfrm>
          <a:prstGeom prst="rect">
            <a:avLst/>
          </a:prstGeom>
          <a:noFill/>
          <a:ln/>
        </p:spPr>
        <p:txBody>
          <a:bodyPr wrap="square" rtlCol="0" anchor="ctr"/>
          <a:lstStyle/>
          <a:p>
            <a:pPr algn="ctr" indent="0" marL="0">
              <a:buNone/>
            </a:pPr>
            <a:r>
              <a:rPr lang="en-US" sz="1400" b="1" dirty="0">
                <a:solidFill>
                  <a:srgbClr val="E85D04"/>
                </a:solidFill>
                <a:latin typeface="Calibri" pitchFamily="34" charset="0"/>
                <a:ea typeface="Calibri" pitchFamily="34" charset="-122"/>
                <a:cs typeface="Calibri" pitchFamily="34" charset="-120"/>
              </a:rPr>
              <a:t>1 — EGFR (Up)</a:t>
            </a:r>
            <a:endParaRPr lang="en-US" sz="1400" dirty="0"/>
          </a:p>
        </p:txBody>
      </p:sp>
      <p:sp>
        <p:nvSpPr>
          <p:cNvPr id="14" name="Shape 12"/>
          <p:cNvSpPr/>
          <p:nvPr/>
        </p:nvSpPr>
        <p:spPr>
          <a:xfrm>
            <a:off x="1645920" y="2980944"/>
            <a:ext cx="8869680" cy="621792"/>
          </a:xfrm>
          <a:prstGeom prst="rect">
            <a:avLst/>
          </a:prstGeom>
          <a:solidFill>
            <a:srgbClr val="F4F7F8"/>
          </a:solidFill>
          <a:ln w="6350">
            <a:solidFill>
              <a:srgbClr val="E3E8EA"/>
            </a:solidFill>
            <a:prstDash val="solid"/>
          </a:ln>
        </p:spPr>
      </p:sp>
      <p:sp>
        <p:nvSpPr>
          <p:cNvPr id="15" name="Text 13"/>
          <p:cNvSpPr/>
          <p:nvPr/>
        </p:nvSpPr>
        <p:spPr>
          <a:xfrm>
            <a:off x="1645920" y="2980944"/>
            <a:ext cx="3291840" cy="621792"/>
          </a:xfrm>
          <a:prstGeom prst="rect">
            <a:avLst/>
          </a:prstGeom>
          <a:noFill/>
          <a:ln/>
        </p:spPr>
        <p:txBody>
          <a:bodyPr wrap="square" rtlCol="0" anchor="ctr"/>
          <a:lstStyle/>
          <a:p>
            <a:pPr algn="ctr" indent="0" marL="0">
              <a:buNone/>
            </a:pPr>
            <a:r>
              <a:rPr lang="en-US" sz="1400" dirty="0">
                <a:solidFill>
                  <a:srgbClr val="1A1A1A"/>
                </a:solidFill>
                <a:latin typeface="Calibri" pitchFamily="34" charset="0"/>
                <a:ea typeface="Calibri" pitchFamily="34" charset="-122"/>
                <a:cs typeface="Calibri" pitchFamily="34" charset="-120"/>
              </a:rPr>
              <a:t>Proteomics</a:t>
            </a:r>
            <a:endParaRPr lang="en-US" sz="1400" dirty="0"/>
          </a:p>
        </p:txBody>
      </p:sp>
      <p:sp>
        <p:nvSpPr>
          <p:cNvPr id="16" name="Text 14"/>
          <p:cNvSpPr/>
          <p:nvPr/>
        </p:nvSpPr>
        <p:spPr>
          <a:xfrm>
            <a:off x="4937760" y="2980944"/>
            <a:ext cx="2926080" cy="621792"/>
          </a:xfrm>
          <a:prstGeom prst="rect">
            <a:avLst/>
          </a:prstGeom>
          <a:noFill/>
          <a:ln/>
        </p:spPr>
        <p:txBody>
          <a:bodyPr wrap="square" rtlCol="0" anchor="ctr"/>
          <a:lstStyle/>
          <a:p>
            <a:pPr algn="ctr" indent="0" marL="0">
              <a:buNone/>
            </a:pPr>
            <a:r>
              <a:rPr lang="en-US" sz="1400" dirty="0">
                <a:solidFill>
                  <a:srgbClr val="1A1A1A"/>
                </a:solidFill>
                <a:latin typeface="Calibri" pitchFamily="34" charset="0"/>
                <a:ea typeface="Calibri" pitchFamily="34" charset="-122"/>
                <a:cs typeface="Calibri" pitchFamily="34" charset="-120"/>
              </a:rPr>
              <a:t>10,331</a:t>
            </a:r>
            <a:endParaRPr lang="en-US" sz="1400" dirty="0"/>
          </a:p>
        </p:txBody>
      </p:sp>
      <p:sp>
        <p:nvSpPr>
          <p:cNvPr id="17" name="Text 15"/>
          <p:cNvSpPr/>
          <p:nvPr/>
        </p:nvSpPr>
        <p:spPr>
          <a:xfrm>
            <a:off x="7863840" y="2980944"/>
            <a:ext cx="2651760" cy="621792"/>
          </a:xfrm>
          <a:prstGeom prst="rect">
            <a:avLst/>
          </a:prstGeom>
          <a:noFill/>
          <a:ln/>
        </p:spPr>
        <p:txBody>
          <a:bodyPr wrap="square" rtlCol="0" anchor="ctr"/>
          <a:lstStyle/>
          <a:p>
            <a:pPr algn="ctr" indent="0" marL="0">
              <a:buNone/>
            </a:pPr>
            <a:r>
              <a:rPr lang="en-US" sz="1400" dirty="0">
                <a:solidFill>
                  <a:srgbClr val="1A1A1A"/>
                </a:solidFill>
                <a:latin typeface="Calibri" pitchFamily="34" charset="0"/>
                <a:ea typeface="Calibri" pitchFamily="34" charset="-122"/>
                <a:cs typeface="Calibri" pitchFamily="34" charset="-120"/>
              </a:rPr>
              <a:t>0</a:t>
            </a:r>
            <a:endParaRPr lang="en-US" sz="1400" dirty="0"/>
          </a:p>
        </p:txBody>
      </p:sp>
      <p:sp>
        <p:nvSpPr>
          <p:cNvPr id="18" name="Shape 16"/>
          <p:cNvSpPr/>
          <p:nvPr/>
        </p:nvSpPr>
        <p:spPr>
          <a:xfrm>
            <a:off x="1645920" y="3602736"/>
            <a:ext cx="8869680" cy="621792"/>
          </a:xfrm>
          <a:prstGeom prst="rect">
            <a:avLst/>
          </a:prstGeom>
          <a:solidFill>
            <a:srgbClr val="FFFFFF"/>
          </a:solidFill>
          <a:ln w="6350">
            <a:solidFill>
              <a:srgbClr val="E3E8EA"/>
            </a:solidFill>
            <a:prstDash val="solid"/>
          </a:ln>
        </p:spPr>
      </p:sp>
      <p:sp>
        <p:nvSpPr>
          <p:cNvPr id="19" name="Text 17"/>
          <p:cNvSpPr/>
          <p:nvPr/>
        </p:nvSpPr>
        <p:spPr>
          <a:xfrm>
            <a:off x="1645920" y="3602736"/>
            <a:ext cx="3291840" cy="621792"/>
          </a:xfrm>
          <a:prstGeom prst="rect">
            <a:avLst/>
          </a:prstGeom>
          <a:noFill/>
          <a:ln/>
        </p:spPr>
        <p:txBody>
          <a:bodyPr wrap="square" rtlCol="0" anchor="ctr"/>
          <a:lstStyle/>
          <a:p>
            <a:pPr algn="ctr" indent="0" marL="0">
              <a:buNone/>
            </a:pPr>
            <a:r>
              <a:rPr lang="en-US" sz="1400" dirty="0">
                <a:solidFill>
                  <a:srgbClr val="1A1A1A"/>
                </a:solidFill>
                <a:latin typeface="Calibri" pitchFamily="34" charset="0"/>
                <a:ea typeface="Calibri" pitchFamily="34" charset="-122"/>
                <a:cs typeface="Calibri" pitchFamily="34" charset="-120"/>
              </a:rPr>
              <a:t>Methylation (M-values)</a:t>
            </a:r>
            <a:endParaRPr lang="en-US" sz="1400" dirty="0"/>
          </a:p>
        </p:txBody>
      </p:sp>
      <p:sp>
        <p:nvSpPr>
          <p:cNvPr id="20" name="Text 18"/>
          <p:cNvSpPr/>
          <p:nvPr/>
        </p:nvSpPr>
        <p:spPr>
          <a:xfrm>
            <a:off x="4937760" y="3602736"/>
            <a:ext cx="2926080" cy="621792"/>
          </a:xfrm>
          <a:prstGeom prst="rect">
            <a:avLst/>
          </a:prstGeom>
          <a:noFill/>
          <a:ln/>
        </p:spPr>
        <p:txBody>
          <a:bodyPr wrap="square" rtlCol="0" anchor="ctr"/>
          <a:lstStyle/>
          <a:p>
            <a:pPr algn="ctr" indent="0" marL="0">
              <a:buNone/>
            </a:pPr>
            <a:r>
              <a:rPr lang="en-US" sz="1400" dirty="0">
                <a:solidFill>
                  <a:srgbClr val="1A1A1A"/>
                </a:solidFill>
                <a:latin typeface="Calibri" pitchFamily="34" charset="0"/>
                <a:ea typeface="Calibri" pitchFamily="34" charset="-122"/>
                <a:cs typeface="Calibri" pitchFamily="34" charset="-120"/>
              </a:rPr>
              <a:t>12,669</a:t>
            </a:r>
            <a:endParaRPr lang="en-US" sz="1400" dirty="0"/>
          </a:p>
        </p:txBody>
      </p:sp>
      <p:sp>
        <p:nvSpPr>
          <p:cNvPr id="21" name="Text 19"/>
          <p:cNvSpPr/>
          <p:nvPr/>
        </p:nvSpPr>
        <p:spPr>
          <a:xfrm>
            <a:off x="7863840" y="3602736"/>
            <a:ext cx="2651760" cy="621792"/>
          </a:xfrm>
          <a:prstGeom prst="rect">
            <a:avLst/>
          </a:prstGeom>
          <a:noFill/>
          <a:ln/>
        </p:spPr>
        <p:txBody>
          <a:bodyPr wrap="square" rtlCol="0" anchor="ctr"/>
          <a:lstStyle/>
          <a:p>
            <a:pPr algn="ctr" indent="0" marL="0">
              <a:buNone/>
            </a:pPr>
            <a:r>
              <a:rPr lang="en-US" sz="1400" dirty="0">
                <a:solidFill>
                  <a:srgbClr val="1A1A1A"/>
                </a:solidFill>
                <a:latin typeface="Calibri" pitchFamily="34" charset="0"/>
                <a:ea typeface="Calibri" pitchFamily="34" charset="-122"/>
                <a:cs typeface="Calibri" pitchFamily="34" charset="-120"/>
              </a:rPr>
              <a:t>0</a:t>
            </a:r>
            <a:endParaRPr lang="en-US" sz="1400" dirty="0"/>
          </a:p>
        </p:txBody>
      </p:sp>
      <p:sp>
        <p:nvSpPr>
          <p:cNvPr id="22" name="Shape 20"/>
          <p:cNvSpPr/>
          <p:nvPr/>
        </p:nvSpPr>
        <p:spPr>
          <a:xfrm>
            <a:off x="1645920" y="4224528"/>
            <a:ext cx="8869680" cy="621792"/>
          </a:xfrm>
          <a:prstGeom prst="rect">
            <a:avLst/>
          </a:prstGeom>
          <a:solidFill>
            <a:srgbClr val="F4F7F8"/>
          </a:solidFill>
          <a:ln w="6350">
            <a:solidFill>
              <a:srgbClr val="E3E8EA"/>
            </a:solidFill>
            <a:prstDash val="solid"/>
          </a:ln>
        </p:spPr>
      </p:sp>
      <p:sp>
        <p:nvSpPr>
          <p:cNvPr id="23" name="Text 21"/>
          <p:cNvSpPr/>
          <p:nvPr/>
        </p:nvSpPr>
        <p:spPr>
          <a:xfrm>
            <a:off x="1645920" y="4224528"/>
            <a:ext cx="3291840" cy="621792"/>
          </a:xfrm>
          <a:prstGeom prst="rect">
            <a:avLst/>
          </a:prstGeom>
          <a:noFill/>
          <a:ln/>
        </p:spPr>
        <p:txBody>
          <a:bodyPr wrap="square" rtlCol="0" anchor="ctr"/>
          <a:lstStyle/>
          <a:p>
            <a:pPr algn="ctr" indent="0" marL="0">
              <a:buNone/>
            </a:pPr>
            <a:r>
              <a:rPr lang="en-US" sz="1400" dirty="0">
                <a:solidFill>
                  <a:srgbClr val="1A1A1A"/>
                </a:solidFill>
                <a:latin typeface="Calibri" pitchFamily="34" charset="0"/>
                <a:ea typeface="Calibri" pitchFamily="34" charset="-122"/>
                <a:cs typeface="Calibri" pitchFamily="34" charset="-120"/>
              </a:rPr>
              <a:t>miRNA-seq</a:t>
            </a:r>
            <a:endParaRPr lang="en-US" sz="1400" dirty="0"/>
          </a:p>
        </p:txBody>
      </p:sp>
      <p:sp>
        <p:nvSpPr>
          <p:cNvPr id="24" name="Text 22"/>
          <p:cNvSpPr/>
          <p:nvPr/>
        </p:nvSpPr>
        <p:spPr>
          <a:xfrm>
            <a:off x="4937760" y="4224528"/>
            <a:ext cx="2926080" cy="621792"/>
          </a:xfrm>
          <a:prstGeom prst="rect">
            <a:avLst/>
          </a:prstGeom>
          <a:noFill/>
          <a:ln/>
        </p:spPr>
        <p:txBody>
          <a:bodyPr wrap="square" rtlCol="0" anchor="ctr"/>
          <a:lstStyle/>
          <a:p>
            <a:pPr algn="ctr" indent="0" marL="0">
              <a:buNone/>
            </a:pPr>
            <a:r>
              <a:rPr lang="en-US" sz="1400" dirty="0">
                <a:solidFill>
                  <a:srgbClr val="1A1A1A"/>
                </a:solidFill>
                <a:latin typeface="Calibri" pitchFamily="34" charset="0"/>
                <a:ea typeface="Calibri" pitchFamily="34" charset="-122"/>
                <a:cs typeface="Calibri" pitchFamily="34" charset="-120"/>
              </a:rPr>
              <a:t>1,983</a:t>
            </a:r>
            <a:endParaRPr lang="en-US" sz="1400" dirty="0"/>
          </a:p>
        </p:txBody>
      </p:sp>
      <p:sp>
        <p:nvSpPr>
          <p:cNvPr id="25" name="Text 23"/>
          <p:cNvSpPr/>
          <p:nvPr/>
        </p:nvSpPr>
        <p:spPr>
          <a:xfrm>
            <a:off x="7863840" y="4224528"/>
            <a:ext cx="2651760" cy="621792"/>
          </a:xfrm>
          <a:prstGeom prst="rect">
            <a:avLst/>
          </a:prstGeom>
          <a:noFill/>
          <a:ln/>
        </p:spPr>
        <p:txBody>
          <a:bodyPr wrap="square" rtlCol="0" anchor="ctr"/>
          <a:lstStyle/>
          <a:p>
            <a:pPr algn="ctr" indent="0" marL="0">
              <a:buNone/>
            </a:pPr>
            <a:r>
              <a:rPr lang="en-US" sz="1400" dirty="0">
                <a:solidFill>
                  <a:srgbClr val="1A1A1A"/>
                </a:solidFill>
                <a:latin typeface="Calibri" pitchFamily="34" charset="0"/>
                <a:ea typeface="Calibri" pitchFamily="34" charset="-122"/>
                <a:cs typeface="Calibri" pitchFamily="34" charset="-120"/>
              </a:rPr>
              <a:t>0</a:t>
            </a:r>
            <a:endParaRPr lang="en-US" sz="1400" dirty="0"/>
          </a:p>
        </p:txBody>
      </p:sp>
      <p:sp>
        <p:nvSpPr>
          <p:cNvPr id="26" name="Shape 24"/>
          <p:cNvSpPr/>
          <p:nvPr/>
        </p:nvSpPr>
        <p:spPr>
          <a:xfrm>
            <a:off x="822960" y="5074920"/>
            <a:ext cx="10515600" cy="1005840"/>
          </a:xfrm>
          <a:prstGeom prst="roundRect">
            <a:avLst>
              <a:gd name="adj" fmla="val 5455"/>
            </a:avLst>
          </a:prstGeom>
          <a:solidFill>
            <a:srgbClr val="E6F3F2"/>
          </a:solidFill>
          <a:ln/>
        </p:spPr>
      </p:sp>
      <p:sp>
        <p:nvSpPr>
          <p:cNvPr id="27" name="Text 25"/>
          <p:cNvSpPr/>
          <p:nvPr/>
        </p:nvSpPr>
        <p:spPr>
          <a:xfrm>
            <a:off x="1051560" y="5074920"/>
            <a:ext cx="10058400" cy="1005840"/>
          </a:xfrm>
          <a:prstGeom prst="rect">
            <a:avLst/>
          </a:prstGeom>
          <a:noFill/>
          <a:ln/>
        </p:spPr>
        <p:txBody>
          <a:bodyPr wrap="square" rtlCol="0" anchor="ctr"/>
          <a:lstStyle/>
          <a:p>
            <a:pPr indent="0" marL="0">
              <a:buNone/>
            </a:pPr>
            <a:r>
              <a:rPr lang="en-US" sz="1250" b="1" i="1" dirty="0">
                <a:solidFill>
                  <a:srgbClr val="0B3142"/>
                </a:solidFill>
                <a:latin typeface="Calibri" pitchFamily="34" charset="0"/>
                <a:ea typeface="Calibri" pitchFamily="34" charset="-122"/>
                <a:cs typeface="Calibri" pitchFamily="34" charset="-120"/>
              </a:rPr>
              <a:t>This is a positive control, not a weak result: samples labeled "EGFR-mutant" show ~8-fold higher EGFR transcript (log2FC≈3), confirming the pipeline and grouping variable are working correctly. Zero hits elsewhere reflects real statistical power limits (23 vs. 73 samples) and known attenuation of mRNA-level signal at the protein level (Wang et al. 2021).</a:t>
            </a:r>
            <a:endParaRPr lang="en-US" sz="1250" dirty="0"/>
          </a:p>
        </p:txBody>
      </p:sp>
      <p:sp>
        <p:nvSpPr>
          <p:cNvPr id="28" name="Text 26"/>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770"/>
                </a:solidFill>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28090"/>
          </a:solidFill>
          <a:ln/>
        </p:spPr>
      </p:sp>
      <p:sp>
        <p:nvSpPr>
          <p:cNvPr id="3" name="Text 1"/>
          <p:cNvSpPr/>
          <p:nvPr/>
        </p:nvSpPr>
        <p:spPr>
          <a:xfrm>
            <a:off x="457200" y="411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4" name="Text 2"/>
          <p:cNvSpPr/>
          <p:nvPr/>
        </p:nvSpPr>
        <p:spPr>
          <a:xfrm>
            <a:off x="1051560" y="320040"/>
            <a:ext cx="10607040" cy="777240"/>
          </a:xfrm>
          <a:prstGeom prst="rect">
            <a:avLst/>
          </a:prstGeom>
          <a:noFill/>
          <a:ln/>
        </p:spPr>
        <p:txBody>
          <a:bodyPr wrap="square" lIns="0" tIns="0" rIns="0" bIns="0" rtlCol="0" anchor="ctr"/>
          <a:lstStyle/>
          <a:p>
            <a:pPr algn="l" indent="0" marL="0">
              <a:buNone/>
            </a:pPr>
            <a:r>
              <a:rPr lang="en-US" sz="3000" b="1" dirty="0">
                <a:solidFill>
                  <a:srgbClr val="0B3142"/>
                </a:solidFill>
                <a:latin typeface="Cambria" pitchFamily="34" charset="0"/>
                <a:ea typeface="Cambria" pitchFamily="34" charset="-122"/>
                <a:cs typeface="Cambria" pitchFamily="34" charset="-120"/>
              </a:rPr>
              <a:t>RNA-seq Volcano Plot — EGFR Recovered as Top Hit</a:t>
            </a:r>
            <a:endParaRPr lang="en-US" sz="3000" dirty="0"/>
          </a:p>
        </p:txBody>
      </p:sp>
      <p:sp>
        <p:nvSpPr>
          <p:cNvPr id="5" name="Shape 3"/>
          <p:cNvSpPr/>
          <p:nvPr/>
        </p:nvSpPr>
        <p:spPr>
          <a:xfrm>
            <a:off x="3685032" y="1124712"/>
            <a:ext cx="4791456" cy="4791456"/>
          </a:xfrm>
          <a:prstGeom prst="roundRect">
            <a:avLst>
              <a:gd name="adj" fmla="val 1145"/>
            </a:avLst>
          </a:prstGeom>
          <a:solidFill>
            <a:srgbClr val="FFFFFF"/>
          </a:solidFill>
          <a:ln w="12700">
            <a:solidFill>
              <a:srgbClr val="E3E8EA"/>
            </a:solidFill>
            <a:prstDash val="solid"/>
          </a:ln>
          <a:effectLst>
            <a:outerShdw sx="100000" sy="100000" kx="0" ky="0" algn="bl" rotWithShape="0" blurRad="76200" dist="38100" dir="5400000">
              <a:srgbClr val="9AA5AA">
                <a:alpha val="35000"/>
              </a:srgbClr>
            </a:outerShdw>
          </a:effectLst>
        </p:spPr>
      </p:sp>
      <p:pic>
        <p:nvPicPr>
          <p:cNvPr id="6" name="Image 0" descr="/home/claude/deck_images/de_rna_volcano.jpeg">    </p:cNvPr>
          <p:cNvPicPr>
            <a:picLocks noChangeAspect="1"/>
          </p:cNvPicPr>
          <p:nvPr/>
        </p:nvPicPr>
        <p:blipFill>
          <a:blip r:embed="rId1"/>
          <a:srcRect l="0" r="0" t="0" b="0"/>
          <a:stretch/>
        </p:blipFill>
        <p:spPr>
          <a:xfrm>
            <a:off x="3794760" y="1234440"/>
            <a:ext cx="4572000" cy="4572000"/>
          </a:xfrm>
          <a:prstGeom prst="rect">
            <a:avLst/>
          </a:prstGeom>
        </p:spPr>
      </p:pic>
      <p:sp>
        <p:nvSpPr>
          <p:cNvPr id="7" name="Text 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770"/>
                </a:solidFill>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28090"/>
          </a:solidFill>
          <a:ln/>
        </p:spPr>
      </p:sp>
      <p:sp>
        <p:nvSpPr>
          <p:cNvPr id="3" name="Text 1"/>
          <p:cNvSpPr/>
          <p:nvPr/>
        </p:nvSpPr>
        <p:spPr>
          <a:xfrm>
            <a:off x="457200" y="411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a:t>
            </a:r>
            <a:endParaRPr lang="en-US" sz="1600" dirty="0"/>
          </a:p>
        </p:txBody>
      </p:sp>
      <p:sp>
        <p:nvSpPr>
          <p:cNvPr id="4" name="Text 2"/>
          <p:cNvSpPr/>
          <p:nvPr/>
        </p:nvSpPr>
        <p:spPr>
          <a:xfrm>
            <a:off x="1051560" y="320040"/>
            <a:ext cx="10607040" cy="777240"/>
          </a:xfrm>
          <a:prstGeom prst="rect">
            <a:avLst/>
          </a:prstGeom>
          <a:noFill/>
          <a:ln/>
        </p:spPr>
        <p:txBody>
          <a:bodyPr wrap="square" lIns="0" tIns="0" rIns="0" bIns="0" rtlCol="0" anchor="ctr"/>
          <a:lstStyle/>
          <a:p>
            <a:pPr algn="l" indent="0" marL="0">
              <a:buNone/>
            </a:pPr>
            <a:r>
              <a:rPr lang="en-US" sz="3000" b="1" dirty="0">
                <a:solidFill>
                  <a:srgbClr val="0B3142"/>
                </a:solidFill>
                <a:latin typeface="Cambria" pitchFamily="34" charset="0"/>
                <a:ea typeface="Cambria" pitchFamily="34" charset="-122"/>
                <a:cs typeface="Cambria" pitchFamily="34" charset="-120"/>
              </a:rPr>
              <a:t>MOFA Variance Decomposition — The Centerpiece Result</a:t>
            </a:r>
            <a:endParaRPr lang="en-US" sz="3000" dirty="0"/>
          </a:p>
        </p:txBody>
      </p:sp>
      <p:sp>
        <p:nvSpPr>
          <p:cNvPr id="5" name="Shape 3"/>
          <p:cNvSpPr/>
          <p:nvPr/>
        </p:nvSpPr>
        <p:spPr>
          <a:xfrm>
            <a:off x="438912" y="1124712"/>
            <a:ext cx="5614416" cy="4928616"/>
          </a:xfrm>
          <a:prstGeom prst="roundRect">
            <a:avLst>
              <a:gd name="adj" fmla="val 1113"/>
            </a:avLst>
          </a:prstGeom>
          <a:solidFill>
            <a:srgbClr val="FFFFFF"/>
          </a:solidFill>
          <a:ln w="12700">
            <a:solidFill>
              <a:srgbClr val="E3E8EA"/>
            </a:solidFill>
            <a:prstDash val="solid"/>
          </a:ln>
          <a:effectLst>
            <a:outerShdw sx="100000" sy="100000" kx="0" ky="0" algn="bl" rotWithShape="0" blurRad="76200" dist="38100" dir="5400000">
              <a:srgbClr val="9AA5AA">
                <a:alpha val="35000"/>
              </a:srgbClr>
            </a:outerShdw>
          </a:effectLst>
        </p:spPr>
      </p:sp>
      <p:pic>
        <p:nvPicPr>
          <p:cNvPr id="6" name="Image 0" descr="/home/claude/deck_images/var_heatmap.jpeg">    </p:cNvPr>
          <p:cNvPicPr>
            <a:picLocks noChangeAspect="1"/>
          </p:cNvPicPr>
          <p:nvPr/>
        </p:nvPicPr>
        <p:blipFill>
          <a:blip r:embed="rId1"/>
          <a:srcRect l="0" r="0" t="0" b="0"/>
          <a:stretch/>
        </p:blipFill>
        <p:spPr>
          <a:xfrm>
            <a:off x="548640" y="1234440"/>
            <a:ext cx="5394960" cy="4709160"/>
          </a:xfrm>
          <a:prstGeom prst="rect">
            <a:avLst/>
          </a:prstGeom>
        </p:spPr>
      </p:pic>
      <p:sp>
        <p:nvSpPr>
          <p:cNvPr id="7" name="Shape 4"/>
          <p:cNvSpPr/>
          <p:nvPr/>
        </p:nvSpPr>
        <p:spPr>
          <a:xfrm>
            <a:off x="6153912" y="1124712"/>
            <a:ext cx="5614416" cy="4928616"/>
          </a:xfrm>
          <a:prstGeom prst="roundRect">
            <a:avLst>
              <a:gd name="adj" fmla="val 1113"/>
            </a:avLst>
          </a:prstGeom>
          <a:solidFill>
            <a:srgbClr val="FFFFFF"/>
          </a:solidFill>
          <a:ln w="12700">
            <a:solidFill>
              <a:srgbClr val="E3E8EA"/>
            </a:solidFill>
            <a:prstDash val="solid"/>
          </a:ln>
          <a:effectLst>
            <a:outerShdw sx="100000" sy="100000" kx="0" ky="0" algn="bl" rotWithShape="0" blurRad="76200" dist="38100" dir="5400000">
              <a:srgbClr val="9AA5AA">
                <a:alpha val="35000"/>
              </a:srgbClr>
            </a:outerShdw>
          </a:effectLst>
        </p:spPr>
      </p:sp>
      <p:pic>
        <p:nvPicPr>
          <p:cNvPr id="8" name="Image 1" descr="/home/claude/deck_images/var_barchart.jpeg">    </p:cNvPr>
          <p:cNvPicPr>
            <a:picLocks noChangeAspect="1"/>
          </p:cNvPicPr>
          <p:nvPr/>
        </p:nvPicPr>
        <p:blipFill>
          <a:blip r:embed="rId2"/>
          <a:srcRect l="0" r="0" t="0" b="0"/>
          <a:stretch/>
        </p:blipFill>
        <p:spPr>
          <a:xfrm>
            <a:off x="6263640" y="1234440"/>
            <a:ext cx="5394960" cy="4709160"/>
          </a:xfrm>
          <a:prstGeom prst="rect">
            <a:avLst/>
          </a:prstGeom>
        </p:spPr>
      </p:pic>
      <p:sp>
        <p:nvSpPr>
          <p:cNvPr id="9" name="Text 5"/>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770"/>
                </a:solidFill>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28090"/>
          </a:solidFill>
          <a:ln/>
        </p:spPr>
      </p:sp>
      <p:sp>
        <p:nvSpPr>
          <p:cNvPr id="3" name="Text 1"/>
          <p:cNvSpPr/>
          <p:nvPr/>
        </p:nvSpPr>
        <p:spPr>
          <a:xfrm>
            <a:off x="457200" y="411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a:t>
            </a:r>
            <a:endParaRPr lang="en-US" sz="1600" dirty="0"/>
          </a:p>
        </p:txBody>
      </p:sp>
      <p:sp>
        <p:nvSpPr>
          <p:cNvPr id="4" name="Text 2"/>
          <p:cNvSpPr/>
          <p:nvPr/>
        </p:nvSpPr>
        <p:spPr>
          <a:xfrm>
            <a:off x="1051560" y="320040"/>
            <a:ext cx="10607040" cy="777240"/>
          </a:xfrm>
          <a:prstGeom prst="rect">
            <a:avLst/>
          </a:prstGeom>
          <a:noFill/>
          <a:ln/>
        </p:spPr>
        <p:txBody>
          <a:bodyPr wrap="square" lIns="0" tIns="0" rIns="0" bIns="0" rtlCol="0" anchor="ctr"/>
          <a:lstStyle/>
          <a:p>
            <a:pPr algn="l" indent="0" marL="0">
              <a:buNone/>
            </a:pPr>
            <a:r>
              <a:rPr lang="en-US" sz="3000" b="1" dirty="0">
                <a:solidFill>
                  <a:srgbClr val="0B3142"/>
                </a:solidFill>
                <a:latin typeface="Cambria" pitchFamily="34" charset="0"/>
                <a:ea typeface="Cambria" pitchFamily="34" charset="-122"/>
                <a:cs typeface="Cambria" pitchFamily="34" charset="-120"/>
              </a:rPr>
              <a:t>Which Factors Matter? A Systematic Screen</a:t>
            </a:r>
            <a:endParaRPr lang="en-US" sz="3000" dirty="0"/>
          </a:p>
        </p:txBody>
      </p:sp>
      <p:sp>
        <p:nvSpPr>
          <p:cNvPr id="5" name="Text 3"/>
          <p:cNvSpPr/>
          <p:nvPr/>
        </p:nvSpPr>
        <p:spPr>
          <a:xfrm>
            <a:off x="822960" y="1097280"/>
            <a:ext cx="10515600" cy="365760"/>
          </a:xfrm>
          <a:prstGeom prst="rect">
            <a:avLst/>
          </a:prstGeom>
          <a:noFill/>
          <a:ln/>
        </p:spPr>
        <p:txBody>
          <a:bodyPr wrap="square" rtlCol="0" anchor="ctr"/>
          <a:lstStyle/>
          <a:p>
            <a:pPr indent="0" marL="0">
              <a:buNone/>
            </a:pPr>
            <a:r>
              <a:rPr lang="en-US" sz="1350" i="1" dirty="0">
                <a:solidFill>
                  <a:srgbClr val="5B6770"/>
                </a:solidFill>
                <a:latin typeface="Calibri" pitchFamily="34" charset="0"/>
                <a:ea typeface="Calibri" pitchFamily="34" charset="-122"/>
                <a:cs typeface="Calibri" pitchFamily="34" charset="-120"/>
              </a:rPr>
              <a:t>Before deep-diving any single factor, we tested all 10 against every available clinical covariate.</a:t>
            </a:r>
            <a:endParaRPr lang="en-US" sz="1350" dirty="0"/>
          </a:p>
        </p:txBody>
      </p:sp>
      <p:sp>
        <p:nvSpPr>
          <p:cNvPr id="6" name="Shape 4"/>
          <p:cNvSpPr/>
          <p:nvPr/>
        </p:nvSpPr>
        <p:spPr>
          <a:xfrm>
            <a:off x="2724912" y="1490472"/>
            <a:ext cx="6711696" cy="4379976"/>
          </a:xfrm>
          <a:prstGeom prst="roundRect">
            <a:avLst>
              <a:gd name="adj" fmla="val 1253"/>
            </a:avLst>
          </a:prstGeom>
          <a:solidFill>
            <a:srgbClr val="FFFFFF"/>
          </a:solidFill>
          <a:ln w="12700">
            <a:solidFill>
              <a:srgbClr val="E3E8EA"/>
            </a:solidFill>
            <a:prstDash val="solid"/>
          </a:ln>
          <a:effectLst>
            <a:outerShdw sx="100000" sy="100000" kx="0" ky="0" algn="bl" rotWithShape="0" blurRad="76200" dist="38100" dir="5400000">
              <a:srgbClr val="9AA5AA">
                <a:alpha val="35000"/>
              </a:srgbClr>
            </a:outerShdw>
          </a:effectLst>
        </p:spPr>
      </p:sp>
      <p:pic>
        <p:nvPicPr>
          <p:cNvPr id="7" name="Image 0" descr="/home/claude/deck_images/covariate_heatmap.jpeg">    </p:cNvPr>
          <p:cNvPicPr>
            <a:picLocks noChangeAspect="1"/>
          </p:cNvPicPr>
          <p:nvPr/>
        </p:nvPicPr>
        <p:blipFill>
          <a:blip r:embed="rId1"/>
          <a:srcRect l="0" r="0" t="0" b="0"/>
          <a:stretch/>
        </p:blipFill>
        <p:spPr>
          <a:xfrm>
            <a:off x="2834640" y="1600200"/>
            <a:ext cx="6492240" cy="4160520"/>
          </a:xfrm>
          <a:prstGeom prst="rect">
            <a:avLst/>
          </a:prstGeom>
        </p:spPr>
      </p:pic>
      <p:sp>
        <p:nvSpPr>
          <p:cNvPr id="8" name="Text 5"/>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770"/>
                </a:solidFill>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3142"/>
        </a:solidFill>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FFFFFF"/>
          </a:solidFill>
          <a:ln/>
        </p:spPr>
      </p:sp>
      <p:sp>
        <p:nvSpPr>
          <p:cNvPr id="3" name="Text 1"/>
          <p:cNvSpPr/>
          <p:nvPr/>
        </p:nvSpPr>
        <p:spPr>
          <a:xfrm>
            <a:off x="457200" y="411480"/>
            <a:ext cx="457200" cy="457200"/>
          </a:xfrm>
          <a:prstGeom prst="rect">
            <a:avLst/>
          </a:prstGeom>
          <a:noFill/>
          <a:ln/>
        </p:spPr>
        <p:txBody>
          <a:bodyPr wrap="square" lIns="0" tIns="0" rIns="0" bIns="0" rtlCol="0" anchor="ctr"/>
          <a:lstStyle/>
          <a:p>
            <a:pPr algn="ctr" indent="0" marL="0">
              <a:buNone/>
            </a:pPr>
            <a:r>
              <a:rPr lang="en-US" sz="1600" b="1" dirty="0">
                <a:solidFill>
                  <a:srgbClr val="0B3142"/>
                </a:solidFill>
                <a:latin typeface="Calibri" pitchFamily="34" charset="0"/>
                <a:ea typeface="Calibri" pitchFamily="34" charset="-122"/>
                <a:cs typeface="Calibri" pitchFamily="34" charset="-120"/>
              </a:rPr>
              <a:t>10</a:t>
            </a:r>
            <a:endParaRPr lang="en-US" sz="1600" dirty="0"/>
          </a:p>
        </p:txBody>
      </p:sp>
      <p:sp>
        <p:nvSpPr>
          <p:cNvPr id="4" name="Text 2"/>
          <p:cNvSpPr/>
          <p:nvPr/>
        </p:nvSpPr>
        <p:spPr>
          <a:xfrm>
            <a:off x="1051560" y="320040"/>
            <a:ext cx="5486400" cy="457200"/>
          </a:xfrm>
          <a:prstGeom prst="rect">
            <a:avLst/>
          </a:prstGeom>
          <a:noFill/>
          <a:ln/>
        </p:spPr>
        <p:txBody>
          <a:bodyPr wrap="square" rtlCol="0" anchor="ctr"/>
          <a:lstStyle/>
          <a:p>
            <a:pPr indent="0" marL="0">
              <a:buNone/>
            </a:pPr>
            <a:r>
              <a:rPr lang="en-US" sz="1600" b="1" spc="200" kern="0" dirty="0">
                <a:solidFill>
                  <a:srgbClr val="02C39A"/>
                </a:solidFill>
                <a:latin typeface="Calibri" pitchFamily="34" charset="0"/>
                <a:ea typeface="Calibri" pitchFamily="34" charset="-122"/>
                <a:cs typeface="Calibri" pitchFamily="34" charset="-120"/>
              </a:rPr>
              <a:t>FACTOR 1</a:t>
            </a:r>
            <a:endParaRPr lang="en-US" sz="1600" dirty="0"/>
          </a:p>
        </p:txBody>
      </p:sp>
      <p:sp>
        <p:nvSpPr>
          <p:cNvPr id="5" name="Text 3"/>
          <p:cNvSpPr/>
          <p:nvPr/>
        </p:nvSpPr>
        <p:spPr>
          <a:xfrm>
            <a:off x="1051560" y="685800"/>
            <a:ext cx="100584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Our Strongest Statistical Result</a:t>
            </a:r>
            <a:endParaRPr lang="en-US" sz="2600" dirty="0"/>
          </a:p>
        </p:txBody>
      </p:sp>
      <p:sp>
        <p:nvSpPr>
          <p:cNvPr id="6" name="Shape 4"/>
          <p:cNvSpPr/>
          <p:nvPr/>
        </p:nvSpPr>
        <p:spPr>
          <a:xfrm>
            <a:off x="914400" y="1417320"/>
            <a:ext cx="10332720" cy="4846320"/>
          </a:xfrm>
          <a:prstGeom prst="roundRect">
            <a:avLst>
              <a:gd name="adj" fmla="val 943"/>
            </a:avLst>
          </a:prstGeom>
          <a:solidFill>
            <a:srgbClr val="FFFFFF"/>
          </a:solidFill>
          <a:ln/>
          <a:effectLst>
            <a:outerShdw sx="100000" sy="100000" kx="0" ky="0" algn="bl" rotWithShape="0" blurRad="127000" dist="50800" dir="5400000">
              <a:srgbClr val="000000">
                <a:alpha val="40000"/>
              </a:srgbClr>
            </a:outerShdw>
          </a:effectLst>
        </p:spPr>
      </p:sp>
      <p:pic>
        <p:nvPicPr>
          <p:cNvPr id="7" name="Image 0" descr="/home/claude/deck_images/cox_table.jpeg">    </p:cNvPr>
          <p:cNvPicPr>
            <a:picLocks noChangeAspect="1"/>
          </p:cNvPicPr>
          <p:nvPr/>
        </p:nvPicPr>
        <p:blipFill>
          <a:blip r:embed="rId1"/>
          <a:srcRect l="0" r="0" t="0" b="0"/>
          <a:stretch/>
        </p:blipFill>
        <p:spPr>
          <a:xfrm>
            <a:off x="1051560" y="1554480"/>
            <a:ext cx="10058400" cy="4572000"/>
          </a:xfrm>
          <a:prstGeom prst="rect">
            <a:avLst/>
          </a:prstGeom>
        </p:spPr>
      </p:pic>
      <p:sp>
        <p:nvSpPr>
          <p:cNvPr id="8" name="Text 5"/>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770"/>
                </a:solidFill>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28090"/>
          </a:solidFill>
          <a:ln/>
        </p:spPr>
      </p:sp>
      <p:sp>
        <p:nvSpPr>
          <p:cNvPr id="3" name="Text 1"/>
          <p:cNvSpPr/>
          <p:nvPr/>
        </p:nvSpPr>
        <p:spPr>
          <a:xfrm>
            <a:off x="457200" y="411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10</a:t>
            </a:r>
            <a:endParaRPr lang="en-US" sz="1600" dirty="0"/>
          </a:p>
        </p:txBody>
      </p:sp>
      <p:sp>
        <p:nvSpPr>
          <p:cNvPr id="4" name="Text 2"/>
          <p:cNvSpPr/>
          <p:nvPr/>
        </p:nvSpPr>
        <p:spPr>
          <a:xfrm>
            <a:off x="1051560" y="320040"/>
            <a:ext cx="10607040" cy="777240"/>
          </a:xfrm>
          <a:prstGeom prst="rect">
            <a:avLst/>
          </a:prstGeom>
          <a:noFill/>
          <a:ln/>
        </p:spPr>
        <p:txBody>
          <a:bodyPr wrap="square" lIns="0" tIns="0" rIns="0" bIns="0" rtlCol="0" anchor="ctr"/>
          <a:lstStyle/>
          <a:p>
            <a:pPr algn="l" indent="0" marL="0">
              <a:buNone/>
            </a:pPr>
            <a:r>
              <a:rPr lang="en-US" sz="3000" b="1" dirty="0">
                <a:solidFill>
                  <a:srgbClr val="0B3142"/>
                </a:solidFill>
                <a:latin typeface="Cambria" pitchFamily="34" charset="0"/>
                <a:ea typeface="Cambria" pitchFamily="34" charset="-122"/>
                <a:cs typeface="Cambria" pitchFamily="34" charset="-120"/>
              </a:rPr>
              <a:t>Factor 1: Hazard Ratio Forest Plot</a:t>
            </a:r>
            <a:endParaRPr lang="en-US" sz="3000" dirty="0"/>
          </a:p>
        </p:txBody>
      </p:sp>
      <p:sp>
        <p:nvSpPr>
          <p:cNvPr id="5" name="Shape 3"/>
          <p:cNvSpPr/>
          <p:nvPr/>
        </p:nvSpPr>
        <p:spPr>
          <a:xfrm>
            <a:off x="2907792" y="1124712"/>
            <a:ext cx="6345936" cy="4928616"/>
          </a:xfrm>
          <a:prstGeom prst="roundRect">
            <a:avLst>
              <a:gd name="adj" fmla="val 1113"/>
            </a:avLst>
          </a:prstGeom>
          <a:solidFill>
            <a:srgbClr val="FFFFFF"/>
          </a:solidFill>
          <a:ln w="12700">
            <a:solidFill>
              <a:srgbClr val="E3E8EA"/>
            </a:solidFill>
            <a:prstDash val="solid"/>
          </a:ln>
          <a:effectLst>
            <a:outerShdw sx="100000" sy="100000" kx="0" ky="0" algn="bl" rotWithShape="0" blurRad="76200" dist="38100" dir="5400000">
              <a:srgbClr val="9AA5AA">
                <a:alpha val="35000"/>
              </a:srgbClr>
            </a:outerShdw>
          </a:effectLst>
        </p:spPr>
      </p:sp>
      <p:pic>
        <p:nvPicPr>
          <p:cNvPr id="6" name="Image 0" descr="/home/claude/deck_images/cox_forest.jpeg">    </p:cNvPr>
          <p:cNvPicPr>
            <a:picLocks noChangeAspect="1"/>
          </p:cNvPicPr>
          <p:nvPr/>
        </p:nvPicPr>
        <p:blipFill>
          <a:blip r:embed="rId1"/>
          <a:srcRect l="0" r="0" t="0" b="0"/>
          <a:stretch/>
        </p:blipFill>
        <p:spPr>
          <a:xfrm>
            <a:off x="3017520" y="1234440"/>
            <a:ext cx="6126480" cy="4709160"/>
          </a:xfrm>
          <a:prstGeom prst="rect">
            <a:avLst/>
          </a:prstGeom>
        </p:spPr>
      </p:pic>
      <p:sp>
        <p:nvSpPr>
          <p:cNvPr id="7" name="Text 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770"/>
                </a:solidFill>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28090"/>
          </a:solidFill>
          <a:ln/>
        </p:spPr>
      </p:sp>
      <p:sp>
        <p:nvSpPr>
          <p:cNvPr id="3" name="Text 1"/>
          <p:cNvSpPr/>
          <p:nvPr/>
        </p:nvSpPr>
        <p:spPr>
          <a:xfrm>
            <a:off x="457200" y="411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10</a:t>
            </a:r>
            <a:endParaRPr lang="en-US" sz="1600" dirty="0"/>
          </a:p>
        </p:txBody>
      </p:sp>
      <p:sp>
        <p:nvSpPr>
          <p:cNvPr id="4" name="Text 2"/>
          <p:cNvSpPr/>
          <p:nvPr/>
        </p:nvSpPr>
        <p:spPr>
          <a:xfrm>
            <a:off x="1051560" y="320040"/>
            <a:ext cx="10607040" cy="777240"/>
          </a:xfrm>
          <a:prstGeom prst="rect">
            <a:avLst/>
          </a:prstGeom>
          <a:noFill/>
          <a:ln/>
        </p:spPr>
        <p:txBody>
          <a:bodyPr wrap="square" lIns="0" tIns="0" rIns="0" bIns="0" rtlCol="0" anchor="ctr"/>
          <a:lstStyle/>
          <a:p>
            <a:pPr algn="l" indent="0" marL="0">
              <a:buNone/>
            </a:pPr>
            <a:r>
              <a:rPr lang="en-US" sz="3000" b="1" dirty="0">
                <a:solidFill>
                  <a:srgbClr val="0B3142"/>
                </a:solidFill>
                <a:latin typeface="Cambria" pitchFamily="34" charset="0"/>
                <a:ea typeface="Cambria" pitchFamily="34" charset="-122"/>
                <a:cs typeface="Cambria" pitchFamily="34" charset="-120"/>
              </a:rPr>
              <a:t>But: Is Factor 1 Driven by Outliers?</a:t>
            </a:r>
            <a:endParaRPr lang="en-US" sz="3000" dirty="0"/>
          </a:p>
        </p:txBody>
      </p:sp>
      <p:sp>
        <p:nvSpPr>
          <p:cNvPr id="5" name="Shape 3"/>
          <p:cNvSpPr/>
          <p:nvPr/>
        </p:nvSpPr>
        <p:spPr>
          <a:xfrm>
            <a:off x="2907792" y="1124712"/>
            <a:ext cx="6345936" cy="4791456"/>
          </a:xfrm>
          <a:prstGeom prst="roundRect">
            <a:avLst>
              <a:gd name="adj" fmla="val 1145"/>
            </a:avLst>
          </a:prstGeom>
          <a:solidFill>
            <a:srgbClr val="FFFFFF"/>
          </a:solidFill>
          <a:ln w="12700">
            <a:solidFill>
              <a:srgbClr val="E3E8EA"/>
            </a:solidFill>
            <a:prstDash val="solid"/>
          </a:ln>
          <a:effectLst>
            <a:outerShdw sx="100000" sy="100000" kx="0" ky="0" algn="bl" rotWithShape="0" blurRad="76200" dist="38100" dir="5400000">
              <a:srgbClr val="9AA5AA">
                <a:alpha val="35000"/>
              </a:srgbClr>
            </a:outerShdw>
          </a:effectLst>
        </p:spPr>
      </p:sp>
      <p:pic>
        <p:nvPicPr>
          <p:cNvPr id="6" name="Image 0" descr="/home/claude/deck_images/f1_4_violin_egfr.jpeg">    </p:cNvPr>
          <p:cNvPicPr>
            <a:picLocks noChangeAspect="1"/>
          </p:cNvPicPr>
          <p:nvPr/>
        </p:nvPicPr>
        <p:blipFill>
          <a:blip r:embed="rId1"/>
          <a:srcRect l="0" r="0" t="0" b="0"/>
          <a:stretch/>
        </p:blipFill>
        <p:spPr>
          <a:xfrm>
            <a:off x="3017520" y="1234440"/>
            <a:ext cx="6126480" cy="4572000"/>
          </a:xfrm>
          <a:prstGeom prst="rect">
            <a:avLst/>
          </a:prstGeom>
        </p:spPr>
      </p:pic>
      <p:sp>
        <p:nvSpPr>
          <p:cNvPr id="7" name="Shape 4"/>
          <p:cNvSpPr/>
          <p:nvPr/>
        </p:nvSpPr>
        <p:spPr>
          <a:xfrm>
            <a:off x="822960" y="5989320"/>
            <a:ext cx="10515600" cy="594360"/>
          </a:xfrm>
          <a:prstGeom prst="roundRect">
            <a:avLst>
              <a:gd name="adj" fmla="val 9231"/>
            </a:avLst>
          </a:prstGeom>
          <a:solidFill>
            <a:srgbClr val="FDEEE3"/>
          </a:solidFill>
          <a:ln/>
        </p:spPr>
      </p:sp>
      <p:sp>
        <p:nvSpPr>
          <p:cNvPr id="8" name="Text 5"/>
          <p:cNvSpPr/>
          <p:nvPr/>
        </p:nvSpPr>
        <p:spPr>
          <a:xfrm>
            <a:off x="1051560" y="5989320"/>
            <a:ext cx="10058400" cy="594360"/>
          </a:xfrm>
          <a:prstGeom prst="rect">
            <a:avLst/>
          </a:prstGeom>
          <a:noFill/>
          <a:ln/>
        </p:spPr>
        <p:txBody>
          <a:bodyPr wrap="square" rtlCol="0" anchor="ctr"/>
          <a:lstStyle/>
          <a:p>
            <a:pPr indent="0" marL="0">
              <a:buNone/>
            </a:pPr>
            <a:r>
              <a:rPr lang="en-US" sz="1250" b="1" i="1" dirty="0">
                <a:solidFill>
                  <a:srgbClr val="8A3200"/>
                </a:solidFill>
                <a:latin typeface="Calibri" pitchFamily="34" charset="0"/>
                <a:ea typeface="Calibri" pitchFamily="34" charset="-122"/>
                <a:cs typeface="Calibri" pitchFamily="34" charset="-120"/>
              </a:rPr>
              <a:t>Two samples sit near value 13–14, while every other sample clusters between −2 and +3. Factors 2–4 show no such extreme separation.</a:t>
            </a:r>
            <a:endParaRPr lang="en-US" sz="1250" dirty="0"/>
          </a:p>
        </p:txBody>
      </p:sp>
      <p:sp>
        <p:nvSpPr>
          <p:cNvPr id="9" name="Text 6"/>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770"/>
                </a:solidFill>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28090"/>
          </a:solidFill>
          <a:ln/>
        </p:spPr>
      </p:sp>
      <p:sp>
        <p:nvSpPr>
          <p:cNvPr id="3" name="Text 1"/>
          <p:cNvSpPr/>
          <p:nvPr/>
        </p:nvSpPr>
        <p:spPr>
          <a:xfrm>
            <a:off x="457200" y="411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10</a:t>
            </a:r>
            <a:endParaRPr lang="en-US" sz="1600" dirty="0"/>
          </a:p>
        </p:txBody>
      </p:sp>
      <p:sp>
        <p:nvSpPr>
          <p:cNvPr id="4" name="Text 2"/>
          <p:cNvSpPr/>
          <p:nvPr/>
        </p:nvSpPr>
        <p:spPr>
          <a:xfrm>
            <a:off x="1051560" y="320040"/>
            <a:ext cx="10607040" cy="777240"/>
          </a:xfrm>
          <a:prstGeom prst="rect">
            <a:avLst/>
          </a:prstGeom>
          <a:noFill/>
          <a:ln/>
        </p:spPr>
        <p:txBody>
          <a:bodyPr wrap="square" lIns="0" tIns="0" rIns="0" bIns="0" rtlCol="0" anchor="ctr"/>
          <a:lstStyle/>
          <a:p>
            <a:pPr algn="l" indent="0" marL="0">
              <a:buNone/>
            </a:pPr>
            <a:r>
              <a:rPr lang="en-US" sz="3000" b="1" dirty="0">
                <a:solidFill>
                  <a:srgbClr val="0B3142"/>
                </a:solidFill>
                <a:latin typeface="Cambria" pitchFamily="34" charset="0"/>
                <a:ea typeface="Cambria" pitchFamily="34" charset="-122"/>
                <a:cs typeface="Cambria" pitchFamily="34" charset="-120"/>
              </a:rPr>
              <a:t>Factor 1 Weights: A Consistent Technical Signature</a:t>
            </a:r>
            <a:endParaRPr lang="en-US" sz="3000" dirty="0"/>
          </a:p>
        </p:txBody>
      </p:sp>
      <p:sp>
        <p:nvSpPr>
          <p:cNvPr id="5" name="Shape 3"/>
          <p:cNvSpPr/>
          <p:nvPr/>
        </p:nvSpPr>
        <p:spPr>
          <a:xfrm>
            <a:off x="393192" y="1353312"/>
            <a:ext cx="5614416" cy="2368296"/>
          </a:xfrm>
          <a:prstGeom prst="roundRect">
            <a:avLst>
              <a:gd name="adj" fmla="val 2317"/>
            </a:avLst>
          </a:prstGeom>
          <a:solidFill>
            <a:srgbClr val="FFFFFF"/>
          </a:solidFill>
          <a:ln w="12700">
            <a:solidFill>
              <a:srgbClr val="E3E8EA"/>
            </a:solidFill>
            <a:prstDash val="solid"/>
          </a:ln>
          <a:effectLst>
            <a:outerShdw sx="100000" sy="100000" kx="0" ky="0" algn="bl" rotWithShape="0" blurRad="76200" dist="38100" dir="5400000">
              <a:srgbClr val="9AA5AA">
                <a:alpha val="35000"/>
              </a:srgbClr>
            </a:outerShdw>
          </a:effectLst>
        </p:spPr>
      </p:sp>
      <p:pic>
        <p:nvPicPr>
          <p:cNvPr id="6" name="Image 0" descr="/home/claude/deck_images/f1_mrna_weights.jpeg">    </p:cNvPr>
          <p:cNvPicPr>
            <a:picLocks noChangeAspect="1"/>
          </p:cNvPicPr>
          <p:nvPr/>
        </p:nvPicPr>
        <p:blipFill>
          <a:blip r:embed="rId1"/>
          <a:srcRect l="0" r="0" t="0" b="0"/>
          <a:stretch/>
        </p:blipFill>
        <p:spPr>
          <a:xfrm>
            <a:off x="502920" y="1463040"/>
            <a:ext cx="5394960" cy="2148840"/>
          </a:xfrm>
          <a:prstGeom prst="rect">
            <a:avLst/>
          </a:prstGeom>
        </p:spPr>
      </p:pic>
      <p:sp>
        <p:nvSpPr>
          <p:cNvPr id="7" name="Text 4"/>
          <p:cNvSpPr/>
          <p:nvPr/>
        </p:nvSpPr>
        <p:spPr>
          <a:xfrm>
            <a:off x="502920" y="1234440"/>
            <a:ext cx="5394960" cy="274320"/>
          </a:xfrm>
          <a:prstGeom prst="rect">
            <a:avLst/>
          </a:prstGeom>
          <a:noFill/>
          <a:ln/>
        </p:spPr>
        <p:txBody>
          <a:bodyPr wrap="square" rtlCol="0" anchor="ctr"/>
          <a:lstStyle/>
          <a:p>
            <a:pPr algn="ctr" indent="0" marL="0">
              <a:buNone/>
            </a:pPr>
            <a:r>
              <a:rPr lang="en-US" sz="1150" b="1" dirty="0">
                <a:solidFill>
                  <a:srgbClr val="0B3142"/>
                </a:solidFill>
                <a:latin typeface="Calibri" pitchFamily="34" charset="0"/>
                <a:ea typeface="Calibri" pitchFamily="34" charset="-122"/>
                <a:cs typeface="Calibri" pitchFamily="34" charset="-120"/>
              </a:rPr>
              <a:t>mRNA — dominated by pseudogenes</a:t>
            </a:r>
            <a:endParaRPr lang="en-US" sz="1150" dirty="0"/>
          </a:p>
        </p:txBody>
      </p:sp>
      <p:sp>
        <p:nvSpPr>
          <p:cNvPr id="8" name="Shape 5"/>
          <p:cNvSpPr/>
          <p:nvPr/>
        </p:nvSpPr>
        <p:spPr>
          <a:xfrm>
            <a:off x="6199632" y="1353312"/>
            <a:ext cx="5614416" cy="2368296"/>
          </a:xfrm>
          <a:prstGeom prst="roundRect">
            <a:avLst>
              <a:gd name="adj" fmla="val 2317"/>
            </a:avLst>
          </a:prstGeom>
          <a:solidFill>
            <a:srgbClr val="FFFFFF"/>
          </a:solidFill>
          <a:ln w="12700">
            <a:solidFill>
              <a:srgbClr val="E3E8EA"/>
            </a:solidFill>
            <a:prstDash val="solid"/>
          </a:ln>
          <a:effectLst>
            <a:outerShdw sx="100000" sy="100000" kx="0" ky="0" algn="bl" rotWithShape="0" blurRad="76200" dist="38100" dir="5400000">
              <a:srgbClr val="9AA5AA">
                <a:alpha val="35000"/>
              </a:srgbClr>
            </a:outerShdw>
          </a:effectLst>
        </p:spPr>
      </p:sp>
      <p:pic>
        <p:nvPicPr>
          <p:cNvPr id="9" name="Image 1" descr="/home/claude/deck_images/f1_prot_weights.jpeg">    </p:cNvPr>
          <p:cNvPicPr>
            <a:picLocks noChangeAspect="1"/>
          </p:cNvPicPr>
          <p:nvPr/>
        </p:nvPicPr>
        <p:blipFill>
          <a:blip r:embed="rId2"/>
          <a:srcRect l="0" r="0" t="0" b="0"/>
          <a:stretch/>
        </p:blipFill>
        <p:spPr>
          <a:xfrm>
            <a:off x="6309360" y="1463040"/>
            <a:ext cx="5394960" cy="2148840"/>
          </a:xfrm>
          <a:prstGeom prst="rect">
            <a:avLst/>
          </a:prstGeom>
        </p:spPr>
      </p:pic>
      <p:sp>
        <p:nvSpPr>
          <p:cNvPr id="10" name="Text 6"/>
          <p:cNvSpPr/>
          <p:nvPr/>
        </p:nvSpPr>
        <p:spPr>
          <a:xfrm>
            <a:off x="6309360" y="1234440"/>
            <a:ext cx="5394960" cy="274320"/>
          </a:xfrm>
          <a:prstGeom prst="rect">
            <a:avLst/>
          </a:prstGeom>
          <a:noFill/>
          <a:ln/>
        </p:spPr>
        <p:txBody>
          <a:bodyPr wrap="square" rtlCol="0" anchor="ctr"/>
          <a:lstStyle/>
          <a:p>
            <a:pPr algn="ctr" indent="0" marL="0">
              <a:buNone/>
            </a:pPr>
            <a:r>
              <a:rPr lang="en-US" sz="1150" b="1" dirty="0">
                <a:solidFill>
                  <a:srgbClr val="0B3142"/>
                </a:solidFill>
                <a:latin typeface="Calibri" pitchFamily="34" charset="0"/>
                <a:ea typeface="Calibri" pitchFamily="34" charset="-122"/>
                <a:cs typeface="Calibri" pitchFamily="34" charset="-120"/>
              </a:rPr>
              <a:t>Proteomics — more plausible genes</a:t>
            </a:r>
            <a:endParaRPr lang="en-US" sz="1150" dirty="0"/>
          </a:p>
        </p:txBody>
      </p:sp>
      <p:sp>
        <p:nvSpPr>
          <p:cNvPr id="11" name="Shape 7"/>
          <p:cNvSpPr/>
          <p:nvPr/>
        </p:nvSpPr>
        <p:spPr>
          <a:xfrm>
            <a:off x="393192" y="3913632"/>
            <a:ext cx="5614416" cy="2368296"/>
          </a:xfrm>
          <a:prstGeom prst="roundRect">
            <a:avLst>
              <a:gd name="adj" fmla="val 2317"/>
            </a:avLst>
          </a:prstGeom>
          <a:solidFill>
            <a:srgbClr val="FFFFFF"/>
          </a:solidFill>
          <a:ln w="12700">
            <a:solidFill>
              <a:srgbClr val="E3E8EA"/>
            </a:solidFill>
            <a:prstDash val="solid"/>
          </a:ln>
          <a:effectLst>
            <a:outerShdw sx="100000" sy="100000" kx="0" ky="0" algn="bl" rotWithShape="0" blurRad="76200" dist="38100" dir="5400000">
              <a:srgbClr val="9AA5AA">
                <a:alpha val="35000"/>
              </a:srgbClr>
            </a:outerShdw>
          </a:effectLst>
        </p:spPr>
      </p:sp>
      <p:pic>
        <p:nvPicPr>
          <p:cNvPr id="12" name="Image 2" descr="/home/claude/deck_images/f1_meth_weights.jpeg">    </p:cNvPr>
          <p:cNvPicPr>
            <a:picLocks noChangeAspect="1"/>
          </p:cNvPicPr>
          <p:nvPr/>
        </p:nvPicPr>
        <p:blipFill>
          <a:blip r:embed="rId3"/>
          <a:srcRect l="0" r="0" t="0" b="0"/>
          <a:stretch/>
        </p:blipFill>
        <p:spPr>
          <a:xfrm>
            <a:off x="502920" y="4023360"/>
            <a:ext cx="5394960" cy="2148840"/>
          </a:xfrm>
          <a:prstGeom prst="rect">
            <a:avLst/>
          </a:prstGeom>
        </p:spPr>
      </p:pic>
      <p:sp>
        <p:nvSpPr>
          <p:cNvPr id="13" name="Text 8"/>
          <p:cNvSpPr/>
          <p:nvPr/>
        </p:nvSpPr>
        <p:spPr>
          <a:xfrm>
            <a:off x="502920" y="3794760"/>
            <a:ext cx="5394960" cy="274320"/>
          </a:xfrm>
          <a:prstGeom prst="rect">
            <a:avLst/>
          </a:prstGeom>
          <a:noFill/>
          <a:ln/>
        </p:spPr>
        <p:txBody>
          <a:bodyPr wrap="square" rtlCol="0" anchor="ctr"/>
          <a:lstStyle/>
          <a:p>
            <a:pPr algn="ctr" indent="0" marL="0">
              <a:buNone/>
            </a:pPr>
            <a:r>
              <a:rPr lang="en-US" sz="1150" b="1" dirty="0">
                <a:solidFill>
                  <a:srgbClr val="0B3142"/>
                </a:solidFill>
                <a:latin typeface="Calibri" pitchFamily="34" charset="0"/>
                <a:ea typeface="Calibri" pitchFamily="34" charset="-122"/>
                <a:cs typeface="Calibri" pitchFamily="34" charset="-120"/>
              </a:rPr>
              <a:t>Methylation — saturated at ~1.0</a:t>
            </a:r>
            <a:endParaRPr lang="en-US" sz="1150" dirty="0"/>
          </a:p>
        </p:txBody>
      </p:sp>
      <p:sp>
        <p:nvSpPr>
          <p:cNvPr id="14" name="Shape 9"/>
          <p:cNvSpPr/>
          <p:nvPr/>
        </p:nvSpPr>
        <p:spPr>
          <a:xfrm>
            <a:off x="6199632" y="3913632"/>
            <a:ext cx="5614416" cy="2368296"/>
          </a:xfrm>
          <a:prstGeom prst="roundRect">
            <a:avLst>
              <a:gd name="adj" fmla="val 2317"/>
            </a:avLst>
          </a:prstGeom>
          <a:solidFill>
            <a:srgbClr val="FFFFFF"/>
          </a:solidFill>
          <a:ln w="12700">
            <a:solidFill>
              <a:srgbClr val="E3E8EA"/>
            </a:solidFill>
            <a:prstDash val="solid"/>
          </a:ln>
          <a:effectLst>
            <a:outerShdw sx="100000" sy="100000" kx="0" ky="0" algn="bl" rotWithShape="0" blurRad="76200" dist="38100" dir="5400000">
              <a:srgbClr val="9AA5AA">
                <a:alpha val="35000"/>
              </a:srgbClr>
            </a:outerShdw>
          </a:effectLst>
        </p:spPr>
      </p:sp>
      <p:pic>
        <p:nvPicPr>
          <p:cNvPr id="15" name="Image 3" descr="/home/claude/deck_images/f1_mirna_weights.png">    </p:cNvPr>
          <p:cNvPicPr>
            <a:picLocks noChangeAspect="1"/>
          </p:cNvPicPr>
          <p:nvPr/>
        </p:nvPicPr>
        <p:blipFill>
          <a:blip r:embed="rId4"/>
          <a:srcRect l="0" r="0" t="0" b="0"/>
          <a:stretch/>
        </p:blipFill>
        <p:spPr>
          <a:xfrm>
            <a:off x="6309360" y="4023360"/>
            <a:ext cx="5394960" cy="2148840"/>
          </a:xfrm>
          <a:prstGeom prst="rect">
            <a:avLst/>
          </a:prstGeom>
        </p:spPr>
      </p:pic>
      <p:sp>
        <p:nvSpPr>
          <p:cNvPr id="16" name="Text 10"/>
          <p:cNvSpPr/>
          <p:nvPr/>
        </p:nvSpPr>
        <p:spPr>
          <a:xfrm>
            <a:off x="6309360" y="3794760"/>
            <a:ext cx="5394960" cy="274320"/>
          </a:xfrm>
          <a:prstGeom prst="rect">
            <a:avLst/>
          </a:prstGeom>
          <a:noFill/>
          <a:ln/>
        </p:spPr>
        <p:txBody>
          <a:bodyPr wrap="square" rtlCol="0" anchor="ctr"/>
          <a:lstStyle/>
          <a:p>
            <a:pPr algn="ctr" indent="0" marL="0">
              <a:buNone/>
            </a:pPr>
            <a:r>
              <a:rPr lang="en-US" sz="1150" b="1" dirty="0">
                <a:solidFill>
                  <a:srgbClr val="0B3142"/>
                </a:solidFill>
                <a:latin typeface="Calibri" pitchFamily="34" charset="0"/>
                <a:ea typeface="Calibri" pitchFamily="34" charset="-122"/>
                <a:cs typeface="Calibri" pitchFamily="34" charset="-120"/>
              </a:rPr>
              <a:t>miRNA — low-confidence miRNAs</a:t>
            </a:r>
            <a:endParaRPr lang="en-US" sz="1150" dirty="0"/>
          </a:p>
        </p:txBody>
      </p:sp>
      <p:sp>
        <p:nvSpPr>
          <p:cNvPr id="17" name="Text 11"/>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770"/>
                </a:solidFill>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28090"/>
          </a:solidFill>
          <a:ln/>
        </p:spPr>
      </p:sp>
      <p:sp>
        <p:nvSpPr>
          <p:cNvPr id="3" name="Text 1"/>
          <p:cNvSpPr/>
          <p:nvPr/>
        </p:nvSpPr>
        <p:spPr>
          <a:xfrm>
            <a:off x="457200" y="411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10</a:t>
            </a:r>
            <a:endParaRPr lang="en-US" sz="1600" dirty="0"/>
          </a:p>
        </p:txBody>
      </p:sp>
      <p:sp>
        <p:nvSpPr>
          <p:cNvPr id="4" name="Text 2"/>
          <p:cNvSpPr/>
          <p:nvPr/>
        </p:nvSpPr>
        <p:spPr>
          <a:xfrm>
            <a:off x="1051560" y="320040"/>
            <a:ext cx="10607040" cy="777240"/>
          </a:xfrm>
          <a:prstGeom prst="rect">
            <a:avLst/>
          </a:prstGeom>
          <a:noFill/>
          <a:ln/>
        </p:spPr>
        <p:txBody>
          <a:bodyPr wrap="square" lIns="0" tIns="0" rIns="0" bIns="0" rtlCol="0" anchor="ctr"/>
          <a:lstStyle/>
          <a:p>
            <a:pPr algn="l" indent="0" marL="0">
              <a:buNone/>
            </a:pPr>
            <a:r>
              <a:rPr lang="en-US" sz="3000" b="1" dirty="0">
                <a:solidFill>
                  <a:srgbClr val="0B3142"/>
                </a:solidFill>
                <a:latin typeface="Cambria" pitchFamily="34" charset="0"/>
                <a:ea typeface="Cambria" pitchFamily="34" charset="-122"/>
                <a:cs typeface="Cambria" pitchFamily="34" charset="-120"/>
              </a:rPr>
              <a:t>Testing a Hypothesis: Is This G-CIMP?</a:t>
            </a:r>
            <a:endParaRPr lang="en-US" sz="3000" dirty="0"/>
          </a:p>
        </p:txBody>
      </p:sp>
      <p:sp>
        <p:nvSpPr>
          <p:cNvPr id="5" name="Text 3"/>
          <p:cNvSpPr/>
          <p:nvPr/>
        </p:nvSpPr>
        <p:spPr>
          <a:xfrm>
            <a:off x="822960" y="1097280"/>
            <a:ext cx="10515600" cy="685800"/>
          </a:xfrm>
          <a:prstGeom prst="rect">
            <a:avLst/>
          </a:prstGeom>
          <a:noFill/>
          <a:ln/>
        </p:spPr>
        <p:txBody>
          <a:bodyPr wrap="square" rtlCol="0" anchor="ctr"/>
          <a:lstStyle/>
          <a:p>
            <a:pPr indent="0" marL="0">
              <a:buNone/>
            </a:pPr>
            <a:r>
              <a:rPr lang="en-US" sz="1350" dirty="0">
                <a:solidFill>
                  <a:srgbClr val="1A1A1A"/>
                </a:solidFill>
                <a:latin typeface="Calibri" pitchFamily="34" charset="0"/>
                <a:ea typeface="Calibri" pitchFamily="34" charset="-122"/>
                <a:cs typeface="Calibri" pitchFamily="34" charset="-120"/>
              </a:rPr>
              <a:t>ATRX loss co-occurs with the IDH-mutant / G-CIMP hypermethylator glioma subtype (Noushmehr et al., 2010). We tested whether the Factor 1 outliers carried ATRX mutations.</a:t>
            </a:r>
            <a:endParaRPr lang="en-US" sz="1350" dirty="0"/>
          </a:p>
        </p:txBody>
      </p:sp>
      <p:sp>
        <p:nvSpPr>
          <p:cNvPr id="6" name="Shape 4"/>
          <p:cNvSpPr/>
          <p:nvPr/>
        </p:nvSpPr>
        <p:spPr>
          <a:xfrm>
            <a:off x="3547872" y="1856232"/>
            <a:ext cx="5065776" cy="4014216"/>
          </a:xfrm>
          <a:prstGeom prst="roundRect">
            <a:avLst>
              <a:gd name="adj" fmla="val 1367"/>
            </a:avLst>
          </a:prstGeom>
          <a:solidFill>
            <a:srgbClr val="FFFFFF"/>
          </a:solidFill>
          <a:ln w="12700">
            <a:solidFill>
              <a:srgbClr val="E3E8EA"/>
            </a:solidFill>
            <a:prstDash val="solid"/>
          </a:ln>
          <a:effectLst>
            <a:outerShdw sx="100000" sy="100000" kx="0" ky="0" algn="bl" rotWithShape="0" blurRad="76200" dist="38100" dir="5400000">
              <a:srgbClr val="9AA5AA">
                <a:alpha val="35000"/>
              </a:srgbClr>
            </a:outerShdw>
          </a:effectLst>
        </p:spPr>
      </p:sp>
      <p:pic>
        <p:nvPicPr>
          <p:cNvPr id="7" name="Image 0" descr="/home/claude/deck_images/f1_atrx_violin.jpeg">    </p:cNvPr>
          <p:cNvPicPr>
            <a:picLocks noChangeAspect="1"/>
          </p:cNvPicPr>
          <p:nvPr/>
        </p:nvPicPr>
        <p:blipFill>
          <a:blip r:embed="rId1"/>
          <a:srcRect l="0" r="0" t="0" b="0"/>
          <a:stretch/>
        </p:blipFill>
        <p:spPr>
          <a:xfrm>
            <a:off x="3657600" y="1965960"/>
            <a:ext cx="4846320" cy="3794760"/>
          </a:xfrm>
          <a:prstGeom prst="rect">
            <a:avLst/>
          </a:prstGeom>
        </p:spPr>
      </p:pic>
      <p:sp>
        <p:nvSpPr>
          <p:cNvPr id="8" name="Shape 5"/>
          <p:cNvSpPr/>
          <p:nvPr/>
        </p:nvSpPr>
        <p:spPr>
          <a:xfrm>
            <a:off x="822960" y="5943600"/>
            <a:ext cx="10515600" cy="685800"/>
          </a:xfrm>
          <a:prstGeom prst="roundRect">
            <a:avLst>
              <a:gd name="adj" fmla="val 8000"/>
            </a:avLst>
          </a:prstGeom>
          <a:solidFill>
            <a:srgbClr val="FDEEE3"/>
          </a:solidFill>
          <a:ln/>
        </p:spPr>
      </p:sp>
      <p:sp>
        <p:nvSpPr>
          <p:cNvPr id="9" name="Text 6"/>
          <p:cNvSpPr/>
          <p:nvPr/>
        </p:nvSpPr>
        <p:spPr>
          <a:xfrm>
            <a:off x="1051560" y="5943600"/>
            <a:ext cx="10058400" cy="685800"/>
          </a:xfrm>
          <a:prstGeom prst="rect">
            <a:avLst/>
          </a:prstGeom>
          <a:noFill/>
          <a:ln/>
        </p:spPr>
        <p:txBody>
          <a:bodyPr wrap="square" rtlCol="0" anchor="ctr"/>
          <a:lstStyle/>
          <a:p>
            <a:pPr indent="0" marL="0">
              <a:buNone/>
            </a:pPr>
            <a:r>
              <a:rPr lang="en-US" sz="1250" b="1" i="1" dirty="0">
                <a:solidFill>
                  <a:srgbClr val="8A3200"/>
                </a:solidFill>
                <a:latin typeface="Calibri" pitchFamily="34" charset="0"/>
                <a:ea typeface="Calibri" pitchFamily="34" charset="-122"/>
                <a:cs typeface="Calibri" pitchFamily="34" charset="-120"/>
              </a:rPr>
              <a:t>Result: NOT supported. Both outlier samples are ATRX-wildtype. The driver of these outliers remains unresolved — IDH status was unavailable in this cohort's metadata.</a:t>
            </a:r>
            <a:endParaRPr lang="en-US" sz="1250" dirty="0"/>
          </a:p>
        </p:txBody>
      </p:sp>
      <p:sp>
        <p:nvSpPr>
          <p:cNvPr id="10" name="Text 7"/>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770"/>
                </a:solidFill>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28090"/>
          </a:solidFill>
          <a:ln/>
        </p:spPr>
      </p:sp>
      <p:sp>
        <p:nvSpPr>
          <p:cNvPr id="3" name="Text 1"/>
          <p:cNvSpPr/>
          <p:nvPr/>
        </p:nvSpPr>
        <p:spPr>
          <a:xfrm>
            <a:off x="457200" y="411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10</a:t>
            </a:r>
            <a:endParaRPr lang="en-US" sz="1600" dirty="0"/>
          </a:p>
        </p:txBody>
      </p:sp>
      <p:sp>
        <p:nvSpPr>
          <p:cNvPr id="4" name="Text 2"/>
          <p:cNvSpPr/>
          <p:nvPr/>
        </p:nvSpPr>
        <p:spPr>
          <a:xfrm>
            <a:off x="1051560" y="320040"/>
            <a:ext cx="10607040" cy="777240"/>
          </a:xfrm>
          <a:prstGeom prst="rect">
            <a:avLst/>
          </a:prstGeom>
          <a:noFill/>
          <a:ln/>
        </p:spPr>
        <p:txBody>
          <a:bodyPr wrap="square" lIns="0" tIns="0" rIns="0" bIns="0" rtlCol="0" anchor="ctr"/>
          <a:lstStyle/>
          <a:p>
            <a:pPr algn="l" indent="0" marL="0">
              <a:buNone/>
            </a:pPr>
            <a:r>
              <a:rPr lang="en-US" sz="3000" b="1" dirty="0">
                <a:solidFill>
                  <a:srgbClr val="0B3142"/>
                </a:solidFill>
                <a:latin typeface="Cambria" pitchFamily="34" charset="0"/>
                <a:ea typeface="Cambria" pitchFamily="34" charset="-122"/>
                <a:cs typeface="Cambria" pitchFamily="34" charset="-120"/>
              </a:rPr>
              <a:t>Factor 1: Holding Two Ideas at Once</a:t>
            </a:r>
            <a:endParaRPr lang="en-US" sz="3000" dirty="0"/>
          </a:p>
        </p:txBody>
      </p:sp>
      <p:sp>
        <p:nvSpPr>
          <p:cNvPr id="5" name="Shape 3"/>
          <p:cNvSpPr/>
          <p:nvPr/>
        </p:nvSpPr>
        <p:spPr>
          <a:xfrm>
            <a:off x="822960" y="1371600"/>
            <a:ext cx="5120640" cy="4206240"/>
          </a:xfrm>
          <a:prstGeom prst="roundRect">
            <a:avLst>
              <a:gd name="adj" fmla="val 1739"/>
            </a:avLst>
          </a:prstGeom>
          <a:solidFill>
            <a:srgbClr val="F4F7F8"/>
          </a:solidFill>
          <a:ln w="19050">
            <a:solidFill>
              <a:srgbClr val="028090"/>
            </a:solidFill>
            <a:prstDash val="solid"/>
          </a:ln>
        </p:spPr>
      </p:sp>
      <p:sp>
        <p:nvSpPr>
          <p:cNvPr id="6" name="Text 4"/>
          <p:cNvSpPr/>
          <p:nvPr/>
        </p:nvSpPr>
        <p:spPr>
          <a:xfrm>
            <a:off x="1097280" y="1600200"/>
            <a:ext cx="4572000" cy="457200"/>
          </a:xfrm>
          <a:prstGeom prst="rect">
            <a:avLst/>
          </a:prstGeom>
          <a:noFill/>
          <a:ln/>
        </p:spPr>
        <p:txBody>
          <a:bodyPr wrap="square" rtlCol="0" anchor="ctr"/>
          <a:lstStyle/>
          <a:p>
            <a:pPr indent="0" marL="0">
              <a:buNone/>
            </a:pPr>
            <a:r>
              <a:rPr lang="en-US" sz="1700" b="1" dirty="0">
                <a:solidFill>
                  <a:srgbClr val="028090"/>
                </a:solidFill>
                <a:latin typeface="Cambria" pitchFamily="34" charset="0"/>
                <a:ea typeface="Cambria" pitchFamily="34" charset="-122"/>
                <a:cs typeface="Cambria" pitchFamily="34" charset="-120"/>
              </a:rPr>
              <a:t>The Statistical Case</a:t>
            </a:r>
            <a:endParaRPr lang="en-US" sz="1700" dirty="0"/>
          </a:p>
        </p:txBody>
      </p:sp>
      <p:sp>
        <p:nvSpPr>
          <p:cNvPr id="7" name="Text 5"/>
          <p:cNvSpPr/>
          <p:nvPr/>
        </p:nvSpPr>
        <p:spPr>
          <a:xfrm>
            <a:off x="1097280" y="2148840"/>
            <a:ext cx="4572000" cy="3291840"/>
          </a:xfrm>
          <a:prstGeom prst="rect">
            <a:avLst/>
          </a:prstGeom>
          <a:noFill/>
          <a:ln/>
        </p:spPr>
        <p:txBody>
          <a:bodyPr wrap="square" rtlCol="0" anchor="ctr"/>
          <a:lstStyle/>
          <a:p>
            <a:pPr marL="342900" indent="-342900">
              <a:spcAft>
                <a:spcPts val="1200"/>
              </a:spcAft>
              <a:buSzPct val="100000"/>
              <a:buChar char="•"/>
            </a:pPr>
            <a:r>
              <a:rPr lang="en-US" sz="1300" dirty="0">
                <a:solidFill>
                  <a:srgbClr val="1A1A1A"/>
                </a:solidFill>
                <a:latin typeface="Calibri" pitchFamily="34" charset="0"/>
                <a:ea typeface="Calibri" pitchFamily="34" charset="-122"/>
                <a:cs typeface="Calibri" pitchFamily="34" charset="-120"/>
              </a:rPr>
              <a:t>Significant Cox survival association (HR=1.16, p=0.0014)</a:t>
            </a:r>
            <a:endParaRPr lang="en-US" sz="1300" dirty="0"/>
          </a:p>
          <a:p>
            <a:pPr marL="342900" indent="-342900">
              <a:spcAft>
                <a:spcPts val="1200"/>
              </a:spcAft>
              <a:buSzPct val="100000"/>
              <a:buChar char="•"/>
            </a:pPr>
            <a:r>
              <a:rPr lang="en-US" sz="1300" dirty="0">
                <a:solidFill>
                  <a:srgbClr val="1A1A1A"/>
                </a:solidFill>
                <a:latin typeface="Calibri" pitchFamily="34" charset="0"/>
                <a:ea typeface="Calibri" pitchFamily="34" charset="-122"/>
                <a:cs typeface="Calibri" pitchFamily="34" charset="-120"/>
              </a:rPr>
              <a:t>Age association is textbook-plausible — epigenetic drift with age is well documented</a:t>
            </a:r>
            <a:endParaRPr lang="en-US" sz="1300" dirty="0"/>
          </a:p>
          <a:p>
            <a:pPr marL="342900" indent="-342900">
              <a:spcAft>
                <a:spcPts val="1200"/>
              </a:spcAft>
              <a:buSzPct val="100000"/>
              <a:buChar char="•"/>
            </a:pPr>
            <a:r>
              <a:rPr lang="en-US" sz="1300" dirty="0">
                <a:solidFill>
                  <a:srgbClr val="1A1A1A"/>
                </a:solidFill>
                <a:latin typeface="Calibri" pitchFamily="34" charset="0"/>
                <a:ea typeface="Calibri" pitchFamily="34" charset="-122"/>
                <a:cs typeface="Calibri" pitchFamily="34" charset="-120"/>
              </a:rPr>
              <a:t>Only factor to reach significance among all 10</a:t>
            </a:r>
            <a:endParaRPr lang="en-US" sz="1300" dirty="0"/>
          </a:p>
        </p:txBody>
      </p:sp>
      <p:sp>
        <p:nvSpPr>
          <p:cNvPr id="8" name="Shape 6"/>
          <p:cNvSpPr/>
          <p:nvPr/>
        </p:nvSpPr>
        <p:spPr>
          <a:xfrm>
            <a:off x="6217920" y="1371600"/>
            <a:ext cx="5120640" cy="4206240"/>
          </a:xfrm>
          <a:prstGeom prst="roundRect">
            <a:avLst>
              <a:gd name="adj" fmla="val 1739"/>
            </a:avLst>
          </a:prstGeom>
          <a:solidFill>
            <a:srgbClr val="F4F7F8"/>
          </a:solidFill>
          <a:ln w="19050">
            <a:solidFill>
              <a:srgbClr val="E85D04"/>
            </a:solidFill>
            <a:prstDash val="solid"/>
          </a:ln>
        </p:spPr>
      </p:sp>
      <p:sp>
        <p:nvSpPr>
          <p:cNvPr id="9" name="Text 7"/>
          <p:cNvSpPr/>
          <p:nvPr/>
        </p:nvSpPr>
        <p:spPr>
          <a:xfrm>
            <a:off x="6492240" y="1600200"/>
            <a:ext cx="4572000" cy="457200"/>
          </a:xfrm>
          <a:prstGeom prst="rect">
            <a:avLst/>
          </a:prstGeom>
          <a:noFill/>
          <a:ln/>
        </p:spPr>
        <p:txBody>
          <a:bodyPr wrap="square" rtlCol="0" anchor="ctr"/>
          <a:lstStyle/>
          <a:p>
            <a:pPr indent="0" marL="0">
              <a:buNone/>
            </a:pPr>
            <a:r>
              <a:rPr lang="en-US" sz="1700" b="1" dirty="0">
                <a:solidFill>
                  <a:srgbClr val="E85D04"/>
                </a:solidFill>
                <a:latin typeface="Cambria" pitchFamily="34" charset="0"/>
                <a:ea typeface="Cambria" pitchFamily="34" charset="-122"/>
                <a:cs typeface="Cambria" pitchFamily="34" charset="-120"/>
              </a:rPr>
              <a:t>The Caveat</a:t>
            </a:r>
            <a:endParaRPr lang="en-US" sz="1700" dirty="0"/>
          </a:p>
        </p:txBody>
      </p:sp>
      <p:sp>
        <p:nvSpPr>
          <p:cNvPr id="10" name="Text 8"/>
          <p:cNvSpPr/>
          <p:nvPr/>
        </p:nvSpPr>
        <p:spPr>
          <a:xfrm>
            <a:off x="6492240" y="2148840"/>
            <a:ext cx="4572000" cy="3291840"/>
          </a:xfrm>
          <a:prstGeom prst="rect">
            <a:avLst/>
          </a:prstGeom>
          <a:noFill/>
          <a:ln/>
        </p:spPr>
        <p:txBody>
          <a:bodyPr wrap="square" rtlCol="0" anchor="ctr"/>
          <a:lstStyle/>
          <a:p>
            <a:pPr marL="342900" indent="-342900">
              <a:spcAft>
                <a:spcPts val="1200"/>
              </a:spcAft>
              <a:buSzPct val="100000"/>
              <a:buChar char="•"/>
            </a:pPr>
            <a:r>
              <a:rPr lang="en-US" sz="1300" dirty="0">
                <a:solidFill>
                  <a:srgbClr val="1A1A1A"/>
                </a:solidFill>
                <a:latin typeface="Calibri" pitchFamily="34" charset="0"/>
                <a:ea typeface="Calibri" pitchFamily="34" charset="-122"/>
                <a:cs typeface="Calibri" pitchFamily="34" charset="-120"/>
              </a:rPr>
              <a:t>2–3 extreme outliers visible in PCA, correlation, clustering, AND violin plots</a:t>
            </a:r>
            <a:endParaRPr lang="en-US" sz="1300" dirty="0"/>
          </a:p>
          <a:p>
            <a:pPr marL="342900" indent="-342900">
              <a:spcAft>
                <a:spcPts val="1200"/>
              </a:spcAft>
              <a:buSzPct val="100000"/>
              <a:buChar char="•"/>
            </a:pPr>
            <a:r>
              <a:rPr lang="en-US" sz="1300" dirty="0">
                <a:solidFill>
                  <a:srgbClr val="1A1A1A"/>
                </a:solidFill>
                <a:latin typeface="Calibri" pitchFamily="34" charset="0"/>
                <a:ea typeface="Calibri" pitchFamily="34" charset="-122"/>
                <a:cs typeface="Calibri" pitchFamily="34" charset="-120"/>
              </a:rPr>
              <a:t>mRNA/Methylation/miRNA weights show technical, not biological, signatures</a:t>
            </a:r>
            <a:endParaRPr lang="en-US" sz="1300" dirty="0"/>
          </a:p>
          <a:p>
            <a:pPr marL="342900" indent="-342900">
              <a:spcAft>
                <a:spcPts val="1200"/>
              </a:spcAft>
              <a:buSzPct val="100000"/>
              <a:buChar char="•"/>
            </a:pPr>
            <a:r>
              <a:rPr lang="en-US" sz="1300" dirty="0">
                <a:solidFill>
                  <a:srgbClr val="1A1A1A"/>
                </a:solidFill>
                <a:latin typeface="Calibri" pitchFamily="34" charset="0"/>
                <a:ea typeface="Calibri" pitchFamily="34" charset="-122"/>
                <a:cs typeface="Calibri" pitchFamily="34" charset="-120"/>
              </a:rPr>
              <a:t>ATRX hypothesis tested and not supported</a:t>
            </a:r>
            <a:endParaRPr lang="en-US" sz="1300" dirty="0"/>
          </a:p>
        </p:txBody>
      </p:sp>
      <p:sp>
        <p:nvSpPr>
          <p:cNvPr id="11" name="Text 9"/>
          <p:cNvSpPr/>
          <p:nvPr/>
        </p:nvSpPr>
        <p:spPr>
          <a:xfrm>
            <a:off x="822960" y="5760720"/>
            <a:ext cx="10515600" cy="640080"/>
          </a:xfrm>
          <a:prstGeom prst="rect">
            <a:avLst/>
          </a:prstGeom>
          <a:noFill/>
          <a:ln/>
        </p:spPr>
        <p:txBody>
          <a:bodyPr wrap="square" rtlCol="0" anchor="ctr"/>
          <a:lstStyle/>
          <a:p>
            <a:pPr algn="ctr" indent="0" marL="0">
              <a:buNone/>
            </a:pPr>
            <a:r>
              <a:rPr lang="en-US" sz="1400" b="1" i="1" dirty="0">
                <a:solidFill>
                  <a:srgbClr val="0B3142"/>
                </a:solidFill>
                <a:latin typeface="Calibri" pitchFamily="34" charset="0"/>
                <a:ea typeface="Calibri" pitchFamily="34" charset="-122"/>
                <a:cs typeface="Calibri" pitchFamily="34" charset="-120"/>
              </a:rPr>
              <a:t>Conclusion: present as a flagged, high-priority finding requiring outlier-exclusion validation — not a confirmed result.</a:t>
            </a:r>
            <a:endParaRPr lang="en-US" sz="1400" dirty="0"/>
          </a:p>
        </p:txBody>
      </p:sp>
      <p:sp>
        <p:nvSpPr>
          <p:cNvPr id="12" name="Text 10"/>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770"/>
                </a:solidFill>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28090"/>
          </a:solidFill>
          <a:ln/>
        </p:spPr>
      </p:sp>
      <p:sp>
        <p:nvSpPr>
          <p:cNvPr id="3" name="Text 1"/>
          <p:cNvSpPr/>
          <p:nvPr/>
        </p:nvSpPr>
        <p:spPr>
          <a:xfrm>
            <a:off x="457200" y="411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11</a:t>
            </a:r>
            <a:endParaRPr lang="en-US" sz="1600" dirty="0"/>
          </a:p>
        </p:txBody>
      </p:sp>
      <p:sp>
        <p:nvSpPr>
          <p:cNvPr id="4" name="Text 2"/>
          <p:cNvSpPr/>
          <p:nvPr/>
        </p:nvSpPr>
        <p:spPr>
          <a:xfrm>
            <a:off x="1051560" y="320040"/>
            <a:ext cx="10607040" cy="777240"/>
          </a:xfrm>
          <a:prstGeom prst="rect">
            <a:avLst/>
          </a:prstGeom>
          <a:noFill/>
          <a:ln/>
        </p:spPr>
        <p:txBody>
          <a:bodyPr wrap="square" lIns="0" tIns="0" rIns="0" bIns="0" rtlCol="0" anchor="ctr"/>
          <a:lstStyle/>
          <a:p>
            <a:pPr algn="l" indent="0" marL="0">
              <a:buNone/>
            </a:pPr>
            <a:r>
              <a:rPr lang="en-US" sz="3000" b="1" dirty="0">
                <a:solidFill>
                  <a:srgbClr val="0B3142"/>
                </a:solidFill>
                <a:latin typeface="Cambria" pitchFamily="34" charset="0"/>
                <a:ea typeface="Cambria" pitchFamily="34" charset="-122"/>
                <a:cs typeface="Cambria" pitchFamily="34" charset="-120"/>
              </a:rPr>
              <a:t>Factor 2: An Age-Associated Neuronal Signature</a:t>
            </a:r>
            <a:endParaRPr lang="en-US" sz="3000" dirty="0"/>
          </a:p>
        </p:txBody>
      </p:sp>
      <p:sp>
        <p:nvSpPr>
          <p:cNvPr id="5" name="Shape 3"/>
          <p:cNvSpPr/>
          <p:nvPr/>
        </p:nvSpPr>
        <p:spPr>
          <a:xfrm>
            <a:off x="393192" y="1124712"/>
            <a:ext cx="5614416" cy="4928616"/>
          </a:xfrm>
          <a:prstGeom prst="roundRect">
            <a:avLst>
              <a:gd name="adj" fmla="val 1113"/>
            </a:avLst>
          </a:prstGeom>
          <a:solidFill>
            <a:srgbClr val="FFFFFF"/>
          </a:solidFill>
          <a:ln w="12700">
            <a:solidFill>
              <a:srgbClr val="E3E8EA"/>
            </a:solidFill>
            <a:prstDash val="solid"/>
          </a:ln>
          <a:effectLst>
            <a:outerShdw sx="100000" sy="100000" kx="0" ky="0" algn="bl" rotWithShape="0" blurRad="76200" dist="38100" dir="5400000">
              <a:srgbClr val="9AA5AA">
                <a:alpha val="35000"/>
              </a:srgbClr>
            </a:outerShdw>
          </a:effectLst>
        </p:spPr>
      </p:sp>
      <p:pic>
        <p:nvPicPr>
          <p:cNvPr id="6" name="Image 0" descr="/home/claude/deck_images/f2_mrna_weights.png">    </p:cNvPr>
          <p:cNvPicPr>
            <a:picLocks noChangeAspect="1"/>
          </p:cNvPicPr>
          <p:nvPr/>
        </p:nvPicPr>
        <p:blipFill>
          <a:blip r:embed="rId1"/>
          <a:srcRect l="0" r="0" t="0" b="0"/>
          <a:stretch/>
        </p:blipFill>
        <p:spPr>
          <a:xfrm>
            <a:off x="502920" y="1234440"/>
            <a:ext cx="5394960" cy="4709160"/>
          </a:xfrm>
          <a:prstGeom prst="rect">
            <a:avLst/>
          </a:prstGeom>
        </p:spPr>
      </p:pic>
      <p:sp>
        <p:nvSpPr>
          <p:cNvPr id="7" name="Shape 4"/>
          <p:cNvSpPr/>
          <p:nvPr/>
        </p:nvSpPr>
        <p:spPr>
          <a:xfrm>
            <a:off x="6199632" y="1124712"/>
            <a:ext cx="5614416" cy="4928616"/>
          </a:xfrm>
          <a:prstGeom prst="roundRect">
            <a:avLst>
              <a:gd name="adj" fmla="val 1113"/>
            </a:avLst>
          </a:prstGeom>
          <a:solidFill>
            <a:srgbClr val="FFFFFF"/>
          </a:solidFill>
          <a:ln w="12700">
            <a:solidFill>
              <a:srgbClr val="E3E8EA"/>
            </a:solidFill>
            <a:prstDash val="solid"/>
          </a:ln>
          <a:effectLst>
            <a:outerShdw sx="100000" sy="100000" kx="0" ky="0" algn="bl" rotWithShape="0" blurRad="76200" dist="38100" dir="5400000">
              <a:srgbClr val="9AA5AA">
                <a:alpha val="35000"/>
              </a:srgbClr>
            </a:outerShdw>
          </a:effectLst>
        </p:spPr>
      </p:sp>
      <p:pic>
        <p:nvPicPr>
          <p:cNvPr id="8" name="Image 1" descr="/home/claude/deck_images/f2_mirna_weights.jpeg">    </p:cNvPr>
          <p:cNvPicPr>
            <a:picLocks noChangeAspect="1"/>
          </p:cNvPicPr>
          <p:nvPr/>
        </p:nvPicPr>
        <p:blipFill>
          <a:blip r:embed="rId2"/>
          <a:srcRect l="0" r="0" t="0" b="0"/>
          <a:stretch/>
        </p:blipFill>
        <p:spPr>
          <a:xfrm>
            <a:off x="6309360" y="1234440"/>
            <a:ext cx="5394960" cy="4709160"/>
          </a:xfrm>
          <a:prstGeom prst="rect">
            <a:avLst/>
          </a:prstGeom>
        </p:spPr>
      </p:pic>
      <p:sp>
        <p:nvSpPr>
          <p:cNvPr id="9" name="Text 5"/>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770"/>
                </a:solidFill>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3142"/>
        </a:solidFill>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FFFFFF"/>
          </a:solidFill>
          <a:ln/>
        </p:spPr>
      </p:sp>
      <p:sp>
        <p:nvSpPr>
          <p:cNvPr id="3" name="Text 1"/>
          <p:cNvSpPr/>
          <p:nvPr/>
        </p:nvSpPr>
        <p:spPr>
          <a:xfrm>
            <a:off x="457200" y="411480"/>
            <a:ext cx="457200" cy="457200"/>
          </a:xfrm>
          <a:prstGeom prst="rect">
            <a:avLst/>
          </a:prstGeom>
          <a:noFill/>
          <a:ln/>
        </p:spPr>
        <p:txBody>
          <a:bodyPr wrap="square" lIns="0" tIns="0" rIns="0" bIns="0" rtlCol="0" anchor="ctr"/>
          <a:lstStyle/>
          <a:p>
            <a:pPr algn="ctr" indent="0" marL="0">
              <a:buNone/>
            </a:pPr>
            <a:r>
              <a:rPr lang="en-US" sz="1600" b="1" dirty="0">
                <a:solidFill>
                  <a:srgbClr val="0B3142"/>
                </a:solidFill>
                <a:latin typeface="Calibri" pitchFamily="34" charset="0"/>
                <a:ea typeface="Calibri" pitchFamily="34" charset="-122"/>
                <a:cs typeface="Calibri" pitchFamily="34" charset="-120"/>
              </a:rPr>
              <a:t>12</a:t>
            </a:r>
            <a:endParaRPr lang="en-US" sz="1600" dirty="0"/>
          </a:p>
        </p:txBody>
      </p:sp>
      <p:sp>
        <p:nvSpPr>
          <p:cNvPr id="4" name="Text 2"/>
          <p:cNvSpPr/>
          <p:nvPr/>
        </p:nvSpPr>
        <p:spPr>
          <a:xfrm>
            <a:off x="1051560" y="2103120"/>
            <a:ext cx="7315200" cy="457200"/>
          </a:xfrm>
          <a:prstGeom prst="rect">
            <a:avLst/>
          </a:prstGeom>
          <a:noFill/>
          <a:ln/>
        </p:spPr>
        <p:txBody>
          <a:bodyPr wrap="square" rtlCol="0" anchor="ctr"/>
          <a:lstStyle/>
          <a:p>
            <a:pPr indent="0" marL="0">
              <a:buNone/>
            </a:pPr>
            <a:r>
              <a:rPr lang="en-US" sz="1600" b="1" spc="200" kern="0" dirty="0">
                <a:solidFill>
                  <a:srgbClr val="02C39A"/>
                </a:solidFill>
                <a:latin typeface="Calibri" pitchFamily="34" charset="0"/>
                <a:ea typeface="Calibri" pitchFamily="34" charset="-122"/>
                <a:cs typeface="Calibri" pitchFamily="34" charset="-120"/>
              </a:rPr>
              <a:t>FACTOR 3</a:t>
            </a:r>
            <a:endParaRPr lang="en-US" sz="1600" dirty="0"/>
          </a:p>
        </p:txBody>
      </p:sp>
      <p:sp>
        <p:nvSpPr>
          <p:cNvPr id="5" name="Text 3"/>
          <p:cNvSpPr/>
          <p:nvPr/>
        </p:nvSpPr>
        <p:spPr>
          <a:xfrm>
            <a:off x="1051560" y="2468880"/>
            <a:ext cx="9601200" cy="82296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Our Strongest Biological Story</a:t>
            </a:r>
            <a:endParaRPr lang="en-US" sz="3400" dirty="0"/>
          </a:p>
        </p:txBody>
      </p:sp>
      <p:sp>
        <p:nvSpPr>
          <p:cNvPr id="6" name="Text 4"/>
          <p:cNvSpPr/>
          <p:nvPr/>
        </p:nvSpPr>
        <p:spPr>
          <a:xfrm>
            <a:off x="1051560" y="3429000"/>
            <a:ext cx="9144000" cy="1005840"/>
          </a:xfrm>
          <a:prstGeom prst="rect">
            <a:avLst/>
          </a:prstGeom>
          <a:noFill/>
          <a:ln/>
        </p:spPr>
        <p:txBody>
          <a:bodyPr wrap="square" rtlCol="0" anchor="ctr"/>
          <a:lstStyle/>
          <a:p>
            <a:pPr indent="0" marL="0">
              <a:buNone/>
            </a:pPr>
            <a:r>
              <a:rPr lang="en-US" sz="1500" i="1" dirty="0">
                <a:solidFill>
                  <a:srgbClr val="C7D9DE"/>
                </a:solidFill>
                <a:latin typeface="Calibri" pitchFamily="34" charset="0"/>
                <a:ea typeface="Calibri" pitchFamily="34" charset="-122"/>
                <a:cs typeface="Calibri" pitchFamily="34" charset="-120"/>
              </a:rPr>
              <a:t>Three independent omics layers — mRNA, Proteomics, and miRNA — independently converge on the same biological theme: chromatin regulation, immune signaling, and proliferation control.</a:t>
            </a:r>
            <a:endParaRPr lang="en-US" sz="1500" dirty="0"/>
          </a:p>
        </p:txBody>
      </p:sp>
      <p:sp>
        <p:nvSpPr>
          <p:cNvPr id="7" name="Text 5"/>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770"/>
                </a:solidFill>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28090"/>
          </a:solidFill>
          <a:ln/>
        </p:spPr>
      </p:sp>
      <p:sp>
        <p:nvSpPr>
          <p:cNvPr id="3" name="Text 1"/>
          <p:cNvSpPr/>
          <p:nvPr/>
        </p:nvSpPr>
        <p:spPr>
          <a:xfrm>
            <a:off x="457200" y="411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12</a:t>
            </a:r>
            <a:endParaRPr lang="en-US" sz="1600" dirty="0"/>
          </a:p>
        </p:txBody>
      </p:sp>
      <p:sp>
        <p:nvSpPr>
          <p:cNvPr id="4" name="Text 2"/>
          <p:cNvSpPr/>
          <p:nvPr/>
        </p:nvSpPr>
        <p:spPr>
          <a:xfrm>
            <a:off x="1051560" y="320040"/>
            <a:ext cx="10607040" cy="777240"/>
          </a:xfrm>
          <a:prstGeom prst="rect">
            <a:avLst/>
          </a:prstGeom>
          <a:noFill/>
          <a:ln/>
        </p:spPr>
        <p:txBody>
          <a:bodyPr wrap="square" lIns="0" tIns="0" rIns="0" bIns="0" rtlCol="0" anchor="ctr"/>
          <a:lstStyle/>
          <a:p>
            <a:pPr algn="l" indent="0" marL="0">
              <a:buNone/>
            </a:pPr>
            <a:r>
              <a:rPr lang="en-US" sz="3000" b="1" dirty="0">
                <a:solidFill>
                  <a:srgbClr val="0B3142"/>
                </a:solidFill>
                <a:latin typeface="Cambria" pitchFamily="34" charset="0"/>
                <a:ea typeface="Cambria" pitchFamily="34" charset="-122"/>
                <a:cs typeface="Cambria" pitchFamily="34" charset="-120"/>
              </a:rPr>
              <a:t>Factor 3 — mRNA: Immune &amp; Inflammatory Signaling</a:t>
            </a:r>
            <a:endParaRPr lang="en-US" sz="3000" dirty="0"/>
          </a:p>
        </p:txBody>
      </p:sp>
      <p:sp>
        <p:nvSpPr>
          <p:cNvPr id="5" name="Shape 3"/>
          <p:cNvSpPr/>
          <p:nvPr/>
        </p:nvSpPr>
        <p:spPr>
          <a:xfrm>
            <a:off x="3547872" y="1124712"/>
            <a:ext cx="5065776" cy="4928616"/>
          </a:xfrm>
          <a:prstGeom prst="roundRect">
            <a:avLst>
              <a:gd name="adj" fmla="val 1113"/>
            </a:avLst>
          </a:prstGeom>
          <a:solidFill>
            <a:srgbClr val="FFFFFF"/>
          </a:solidFill>
          <a:ln w="12700">
            <a:solidFill>
              <a:srgbClr val="E3E8EA"/>
            </a:solidFill>
            <a:prstDash val="solid"/>
          </a:ln>
          <a:effectLst>
            <a:outerShdw sx="100000" sy="100000" kx="0" ky="0" algn="bl" rotWithShape="0" blurRad="76200" dist="38100" dir="5400000">
              <a:srgbClr val="9AA5AA">
                <a:alpha val="35000"/>
              </a:srgbClr>
            </a:outerShdw>
          </a:effectLst>
        </p:spPr>
      </p:sp>
      <p:pic>
        <p:nvPicPr>
          <p:cNvPr id="6" name="Image 0" descr="/home/claude/deck_images/f3_mrna_weights.png">    </p:cNvPr>
          <p:cNvPicPr>
            <a:picLocks noChangeAspect="1"/>
          </p:cNvPicPr>
          <p:nvPr/>
        </p:nvPicPr>
        <p:blipFill>
          <a:blip r:embed="rId1"/>
          <a:srcRect l="0" r="0" t="0" b="0"/>
          <a:stretch/>
        </p:blipFill>
        <p:spPr>
          <a:xfrm>
            <a:off x="3657600" y="1234440"/>
            <a:ext cx="4846320" cy="4709160"/>
          </a:xfrm>
          <a:prstGeom prst="rect">
            <a:avLst/>
          </a:prstGeom>
        </p:spPr>
      </p:pic>
      <p:sp>
        <p:nvSpPr>
          <p:cNvPr id="7" name="Text 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770"/>
                </a:solidFill>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28090"/>
          </a:solidFill>
          <a:ln/>
        </p:spPr>
      </p:sp>
      <p:sp>
        <p:nvSpPr>
          <p:cNvPr id="3" name="Text 1"/>
          <p:cNvSpPr/>
          <p:nvPr/>
        </p:nvSpPr>
        <p:spPr>
          <a:xfrm>
            <a:off x="457200" y="411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12</a:t>
            </a:r>
            <a:endParaRPr lang="en-US" sz="1600" dirty="0"/>
          </a:p>
        </p:txBody>
      </p:sp>
      <p:sp>
        <p:nvSpPr>
          <p:cNvPr id="4" name="Text 2"/>
          <p:cNvSpPr/>
          <p:nvPr/>
        </p:nvSpPr>
        <p:spPr>
          <a:xfrm>
            <a:off x="1051560" y="320040"/>
            <a:ext cx="10607040" cy="777240"/>
          </a:xfrm>
          <a:prstGeom prst="rect">
            <a:avLst/>
          </a:prstGeom>
          <a:noFill/>
          <a:ln/>
        </p:spPr>
        <p:txBody>
          <a:bodyPr wrap="square" lIns="0" tIns="0" rIns="0" bIns="0" rtlCol="0" anchor="ctr"/>
          <a:lstStyle/>
          <a:p>
            <a:pPr algn="l" indent="0" marL="0">
              <a:buNone/>
            </a:pPr>
            <a:r>
              <a:rPr lang="en-US" sz="3000" b="1" dirty="0">
                <a:solidFill>
                  <a:srgbClr val="0B3142"/>
                </a:solidFill>
                <a:latin typeface="Cambria" pitchFamily="34" charset="0"/>
                <a:ea typeface="Cambria" pitchFamily="34" charset="-122"/>
                <a:cs typeface="Cambria" pitchFamily="34" charset="-120"/>
              </a:rPr>
              <a:t>Factor 3 — Proteomics: Chromatin-Remodeling Machinery</a:t>
            </a:r>
            <a:endParaRPr lang="en-US" sz="3000" dirty="0"/>
          </a:p>
        </p:txBody>
      </p:sp>
      <p:sp>
        <p:nvSpPr>
          <p:cNvPr id="5" name="Shape 3"/>
          <p:cNvSpPr/>
          <p:nvPr/>
        </p:nvSpPr>
        <p:spPr>
          <a:xfrm>
            <a:off x="3547872" y="1124712"/>
            <a:ext cx="5065776" cy="4928616"/>
          </a:xfrm>
          <a:prstGeom prst="roundRect">
            <a:avLst>
              <a:gd name="adj" fmla="val 1113"/>
            </a:avLst>
          </a:prstGeom>
          <a:solidFill>
            <a:srgbClr val="FFFFFF"/>
          </a:solidFill>
          <a:ln w="12700">
            <a:solidFill>
              <a:srgbClr val="E3E8EA"/>
            </a:solidFill>
            <a:prstDash val="solid"/>
          </a:ln>
          <a:effectLst>
            <a:outerShdw sx="100000" sy="100000" kx="0" ky="0" algn="bl" rotWithShape="0" blurRad="76200" dist="38100" dir="5400000">
              <a:srgbClr val="9AA5AA">
                <a:alpha val="35000"/>
              </a:srgbClr>
            </a:outerShdw>
          </a:effectLst>
        </p:spPr>
      </p:sp>
      <p:pic>
        <p:nvPicPr>
          <p:cNvPr id="6" name="Image 0" descr="/home/claude/deck_images/f3_prot_weights.jpeg">    </p:cNvPr>
          <p:cNvPicPr>
            <a:picLocks noChangeAspect="1"/>
          </p:cNvPicPr>
          <p:nvPr/>
        </p:nvPicPr>
        <p:blipFill>
          <a:blip r:embed="rId1"/>
          <a:srcRect l="0" r="0" t="0" b="0"/>
          <a:stretch/>
        </p:blipFill>
        <p:spPr>
          <a:xfrm>
            <a:off x="3657600" y="1234440"/>
            <a:ext cx="4846320" cy="4709160"/>
          </a:xfrm>
          <a:prstGeom prst="rect">
            <a:avLst/>
          </a:prstGeom>
        </p:spPr>
      </p:pic>
      <p:sp>
        <p:nvSpPr>
          <p:cNvPr id="7" name="Text 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770"/>
                </a:solidFill>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28090"/>
          </a:solidFill>
          <a:ln/>
        </p:spPr>
      </p:sp>
      <p:sp>
        <p:nvSpPr>
          <p:cNvPr id="3" name="Text 1"/>
          <p:cNvSpPr/>
          <p:nvPr/>
        </p:nvSpPr>
        <p:spPr>
          <a:xfrm>
            <a:off x="457200" y="411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12</a:t>
            </a:r>
            <a:endParaRPr lang="en-US" sz="1600" dirty="0"/>
          </a:p>
        </p:txBody>
      </p:sp>
      <p:sp>
        <p:nvSpPr>
          <p:cNvPr id="4" name="Text 2"/>
          <p:cNvSpPr/>
          <p:nvPr/>
        </p:nvSpPr>
        <p:spPr>
          <a:xfrm>
            <a:off x="1051560" y="320040"/>
            <a:ext cx="10607040" cy="777240"/>
          </a:xfrm>
          <a:prstGeom prst="rect">
            <a:avLst/>
          </a:prstGeom>
          <a:noFill/>
          <a:ln/>
        </p:spPr>
        <p:txBody>
          <a:bodyPr wrap="square" lIns="0" tIns="0" rIns="0" bIns="0" rtlCol="0" anchor="ctr"/>
          <a:lstStyle/>
          <a:p>
            <a:pPr algn="l" indent="0" marL="0">
              <a:buNone/>
            </a:pPr>
            <a:r>
              <a:rPr lang="en-US" sz="3000" b="1" dirty="0">
                <a:solidFill>
                  <a:srgbClr val="0B3142"/>
                </a:solidFill>
                <a:latin typeface="Cambria" pitchFamily="34" charset="0"/>
                <a:ea typeface="Cambria" pitchFamily="34" charset="-122"/>
                <a:cs typeface="Cambria" pitchFamily="34" charset="-120"/>
              </a:rPr>
              <a:t>Factor 3 — miRNA: The Canonical Oncogenic Cluster</a:t>
            </a:r>
            <a:endParaRPr lang="en-US" sz="3000" dirty="0"/>
          </a:p>
        </p:txBody>
      </p:sp>
      <p:sp>
        <p:nvSpPr>
          <p:cNvPr id="5" name="Shape 3"/>
          <p:cNvSpPr/>
          <p:nvPr/>
        </p:nvSpPr>
        <p:spPr>
          <a:xfrm>
            <a:off x="3547872" y="1124712"/>
            <a:ext cx="5065776" cy="4928616"/>
          </a:xfrm>
          <a:prstGeom prst="roundRect">
            <a:avLst>
              <a:gd name="adj" fmla="val 1113"/>
            </a:avLst>
          </a:prstGeom>
          <a:solidFill>
            <a:srgbClr val="FFFFFF"/>
          </a:solidFill>
          <a:ln w="12700">
            <a:solidFill>
              <a:srgbClr val="E3E8EA"/>
            </a:solidFill>
            <a:prstDash val="solid"/>
          </a:ln>
          <a:effectLst>
            <a:outerShdw sx="100000" sy="100000" kx="0" ky="0" algn="bl" rotWithShape="0" blurRad="76200" dist="38100" dir="5400000">
              <a:srgbClr val="9AA5AA">
                <a:alpha val="35000"/>
              </a:srgbClr>
            </a:outerShdw>
          </a:effectLst>
        </p:spPr>
      </p:sp>
      <p:pic>
        <p:nvPicPr>
          <p:cNvPr id="6" name="Image 0" descr="/home/claude/deck_images/f3_mirna_weights.jpeg">    </p:cNvPr>
          <p:cNvPicPr>
            <a:picLocks noChangeAspect="1"/>
          </p:cNvPicPr>
          <p:nvPr/>
        </p:nvPicPr>
        <p:blipFill>
          <a:blip r:embed="rId1"/>
          <a:srcRect l="0" r="0" t="0" b="0"/>
          <a:stretch/>
        </p:blipFill>
        <p:spPr>
          <a:xfrm>
            <a:off x="3657600" y="1234440"/>
            <a:ext cx="4846320" cy="4709160"/>
          </a:xfrm>
          <a:prstGeom prst="rect">
            <a:avLst/>
          </a:prstGeom>
        </p:spPr>
      </p:pic>
      <p:sp>
        <p:nvSpPr>
          <p:cNvPr id="7" name="Text 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770"/>
                </a:solidFill>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28090"/>
          </a:solidFill>
          <a:ln/>
        </p:spPr>
      </p:sp>
      <p:sp>
        <p:nvSpPr>
          <p:cNvPr id="3" name="Text 1"/>
          <p:cNvSpPr/>
          <p:nvPr/>
        </p:nvSpPr>
        <p:spPr>
          <a:xfrm>
            <a:off x="457200" y="411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12</a:t>
            </a:r>
            <a:endParaRPr lang="en-US" sz="1600" dirty="0"/>
          </a:p>
        </p:txBody>
      </p:sp>
      <p:sp>
        <p:nvSpPr>
          <p:cNvPr id="4" name="Text 2"/>
          <p:cNvSpPr/>
          <p:nvPr/>
        </p:nvSpPr>
        <p:spPr>
          <a:xfrm>
            <a:off x="1051560" y="320040"/>
            <a:ext cx="10607040" cy="777240"/>
          </a:xfrm>
          <a:prstGeom prst="rect">
            <a:avLst/>
          </a:prstGeom>
          <a:noFill/>
          <a:ln/>
        </p:spPr>
        <p:txBody>
          <a:bodyPr wrap="square" lIns="0" tIns="0" rIns="0" bIns="0" rtlCol="0" anchor="ctr"/>
          <a:lstStyle/>
          <a:p>
            <a:pPr algn="l" indent="0" marL="0">
              <a:buNone/>
            </a:pPr>
            <a:r>
              <a:rPr lang="en-US" sz="3000" b="1" dirty="0">
                <a:solidFill>
                  <a:srgbClr val="0B3142"/>
                </a:solidFill>
                <a:latin typeface="Cambria" pitchFamily="34" charset="0"/>
                <a:ea typeface="Cambria" pitchFamily="34" charset="-122"/>
                <a:cs typeface="Cambria" pitchFamily="34" charset="-120"/>
              </a:rPr>
              <a:t>Factor 3: A Genuinely Convergent Signature</a:t>
            </a:r>
            <a:endParaRPr lang="en-US" sz="3000" dirty="0"/>
          </a:p>
        </p:txBody>
      </p:sp>
      <p:sp>
        <p:nvSpPr>
          <p:cNvPr id="5" name="Shape 3"/>
          <p:cNvSpPr/>
          <p:nvPr/>
        </p:nvSpPr>
        <p:spPr>
          <a:xfrm>
            <a:off x="822960" y="1463040"/>
            <a:ext cx="10515600" cy="1143000"/>
          </a:xfrm>
          <a:prstGeom prst="roundRect">
            <a:avLst>
              <a:gd name="adj" fmla="val 4800"/>
            </a:avLst>
          </a:prstGeom>
          <a:solidFill>
            <a:srgbClr val="F4F7F8"/>
          </a:solidFill>
          <a:ln/>
        </p:spPr>
      </p:sp>
      <p:sp>
        <p:nvSpPr>
          <p:cNvPr id="6" name="Shape 4"/>
          <p:cNvSpPr/>
          <p:nvPr/>
        </p:nvSpPr>
        <p:spPr>
          <a:xfrm>
            <a:off x="1005840" y="1645920"/>
            <a:ext cx="1554480" cy="777240"/>
          </a:xfrm>
          <a:prstGeom prst="roundRect">
            <a:avLst>
              <a:gd name="adj" fmla="val 7059"/>
            </a:avLst>
          </a:prstGeom>
          <a:solidFill>
            <a:srgbClr val="028090"/>
          </a:solidFill>
          <a:ln/>
        </p:spPr>
      </p:sp>
      <p:sp>
        <p:nvSpPr>
          <p:cNvPr id="7" name="Text 5"/>
          <p:cNvSpPr/>
          <p:nvPr/>
        </p:nvSpPr>
        <p:spPr>
          <a:xfrm>
            <a:off x="1005840" y="1645920"/>
            <a:ext cx="1554480" cy="7772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mRNA</a:t>
            </a:r>
            <a:endParaRPr lang="en-US" sz="1400" dirty="0"/>
          </a:p>
        </p:txBody>
      </p:sp>
      <p:sp>
        <p:nvSpPr>
          <p:cNvPr id="8" name="Text 6"/>
          <p:cNvSpPr/>
          <p:nvPr/>
        </p:nvSpPr>
        <p:spPr>
          <a:xfrm>
            <a:off x="2788920" y="1600200"/>
            <a:ext cx="4663440" cy="86868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IL13RA1 · RNASEL · NFATC2 · ACKR2 · MIR223HG</a:t>
            </a:r>
            <a:endParaRPr lang="en-US" sz="1200" dirty="0"/>
          </a:p>
        </p:txBody>
      </p:sp>
      <p:sp>
        <p:nvSpPr>
          <p:cNvPr id="9" name="Text 7"/>
          <p:cNvSpPr/>
          <p:nvPr/>
        </p:nvSpPr>
        <p:spPr>
          <a:xfrm>
            <a:off x="7589520" y="1600200"/>
            <a:ext cx="3566160" cy="868680"/>
          </a:xfrm>
          <a:prstGeom prst="rect">
            <a:avLst/>
          </a:prstGeom>
          <a:noFill/>
          <a:ln/>
        </p:spPr>
        <p:txBody>
          <a:bodyPr wrap="square" rtlCol="0" anchor="ctr"/>
          <a:lstStyle/>
          <a:p>
            <a:pPr indent="0" marL="0">
              <a:buNone/>
            </a:pPr>
            <a:r>
              <a:rPr lang="en-US" sz="1200" i="1" dirty="0">
                <a:solidFill>
                  <a:srgbClr val="5B6770"/>
                </a:solidFill>
                <a:latin typeface="Calibri" pitchFamily="34" charset="0"/>
                <a:ea typeface="Calibri" pitchFamily="34" charset="-122"/>
                <a:cs typeface="Calibri" pitchFamily="34" charset="-120"/>
              </a:rPr>
              <a:t>Immune / inflammatory signaling</a:t>
            </a:r>
            <a:endParaRPr lang="en-US" sz="1200" dirty="0"/>
          </a:p>
        </p:txBody>
      </p:sp>
      <p:sp>
        <p:nvSpPr>
          <p:cNvPr id="10" name="Shape 8"/>
          <p:cNvSpPr/>
          <p:nvPr/>
        </p:nvSpPr>
        <p:spPr>
          <a:xfrm>
            <a:off x="822960" y="2788920"/>
            <a:ext cx="10515600" cy="1143000"/>
          </a:xfrm>
          <a:prstGeom prst="roundRect">
            <a:avLst>
              <a:gd name="adj" fmla="val 4800"/>
            </a:avLst>
          </a:prstGeom>
          <a:solidFill>
            <a:srgbClr val="F4F7F8"/>
          </a:solidFill>
          <a:ln/>
        </p:spPr>
      </p:sp>
      <p:sp>
        <p:nvSpPr>
          <p:cNvPr id="11" name="Shape 9"/>
          <p:cNvSpPr/>
          <p:nvPr/>
        </p:nvSpPr>
        <p:spPr>
          <a:xfrm>
            <a:off x="1005840" y="2971800"/>
            <a:ext cx="1554480" cy="777240"/>
          </a:xfrm>
          <a:prstGeom prst="roundRect">
            <a:avLst>
              <a:gd name="adj" fmla="val 7059"/>
            </a:avLst>
          </a:prstGeom>
          <a:solidFill>
            <a:srgbClr val="028090"/>
          </a:solidFill>
          <a:ln/>
        </p:spPr>
      </p:sp>
      <p:sp>
        <p:nvSpPr>
          <p:cNvPr id="12" name="Text 10"/>
          <p:cNvSpPr/>
          <p:nvPr/>
        </p:nvSpPr>
        <p:spPr>
          <a:xfrm>
            <a:off x="1005840" y="2971800"/>
            <a:ext cx="1554480" cy="7772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Proteomics</a:t>
            </a:r>
            <a:endParaRPr lang="en-US" sz="1400" dirty="0"/>
          </a:p>
        </p:txBody>
      </p:sp>
      <p:sp>
        <p:nvSpPr>
          <p:cNvPr id="13" name="Text 11"/>
          <p:cNvSpPr/>
          <p:nvPr/>
        </p:nvSpPr>
        <p:spPr>
          <a:xfrm>
            <a:off x="2788920" y="2926080"/>
            <a:ext cx="4663440" cy="86868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SMARCA4 · PBRM1 · SMARCD1 · TRIM28 · SIN3A</a:t>
            </a:r>
            <a:endParaRPr lang="en-US" sz="1200" dirty="0"/>
          </a:p>
        </p:txBody>
      </p:sp>
      <p:sp>
        <p:nvSpPr>
          <p:cNvPr id="14" name="Text 12"/>
          <p:cNvSpPr/>
          <p:nvPr/>
        </p:nvSpPr>
        <p:spPr>
          <a:xfrm>
            <a:off x="7589520" y="2926080"/>
            <a:ext cx="3566160" cy="868680"/>
          </a:xfrm>
          <a:prstGeom prst="rect">
            <a:avLst/>
          </a:prstGeom>
          <a:noFill/>
          <a:ln/>
        </p:spPr>
        <p:txBody>
          <a:bodyPr wrap="square" rtlCol="0" anchor="ctr"/>
          <a:lstStyle/>
          <a:p>
            <a:pPr indent="0" marL="0">
              <a:buNone/>
            </a:pPr>
            <a:r>
              <a:rPr lang="en-US" sz="1200" i="1" dirty="0">
                <a:solidFill>
                  <a:srgbClr val="5B6770"/>
                </a:solidFill>
                <a:latin typeface="Calibri" pitchFamily="34" charset="0"/>
                <a:ea typeface="Calibri" pitchFamily="34" charset="-122"/>
                <a:cs typeface="Calibri" pitchFamily="34" charset="-120"/>
              </a:rPr>
              <a:t>Chromatin-remodeling machinery (SWI/SNF)</a:t>
            </a:r>
            <a:endParaRPr lang="en-US" sz="1200" dirty="0"/>
          </a:p>
        </p:txBody>
      </p:sp>
      <p:sp>
        <p:nvSpPr>
          <p:cNvPr id="15" name="Shape 13"/>
          <p:cNvSpPr/>
          <p:nvPr/>
        </p:nvSpPr>
        <p:spPr>
          <a:xfrm>
            <a:off x="822960" y="4114800"/>
            <a:ext cx="10515600" cy="1143000"/>
          </a:xfrm>
          <a:prstGeom prst="roundRect">
            <a:avLst>
              <a:gd name="adj" fmla="val 4800"/>
            </a:avLst>
          </a:prstGeom>
          <a:solidFill>
            <a:srgbClr val="F4F7F8"/>
          </a:solidFill>
          <a:ln/>
        </p:spPr>
      </p:sp>
      <p:sp>
        <p:nvSpPr>
          <p:cNvPr id="16" name="Shape 14"/>
          <p:cNvSpPr/>
          <p:nvPr/>
        </p:nvSpPr>
        <p:spPr>
          <a:xfrm>
            <a:off x="1005840" y="4297680"/>
            <a:ext cx="1554480" cy="777240"/>
          </a:xfrm>
          <a:prstGeom prst="roundRect">
            <a:avLst>
              <a:gd name="adj" fmla="val 7059"/>
            </a:avLst>
          </a:prstGeom>
          <a:solidFill>
            <a:srgbClr val="028090"/>
          </a:solidFill>
          <a:ln/>
        </p:spPr>
      </p:sp>
      <p:sp>
        <p:nvSpPr>
          <p:cNvPr id="17" name="Text 15"/>
          <p:cNvSpPr/>
          <p:nvPr/>
        </p:nvSpPr>
        <p:spPr>
          <a:xfrm>
            <a:off x="1005840" y="4297680"/>
            <a:ext cx="1554480" cy="7772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miRNA</a:t>
            </a:r>
            <a:endParaRPr lang="en-US" sz="1400" dirty="0"/>
          </a:p>
        </p:txBody>
      </p:sp>
      <p:sp>
        <p:nvSpPr>
          <p:cNvPr id="18" name="Text 16"/>
          <p:cNvSpPr/>
          <p:nvPr/>
        </p:nvSpPr>
        <p:spPr>
          <a:xfrm>
            <a:off x="2788920" y="4251960"/>
            <a:ext cx="4663440" cy="86868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miR-17/20a/93/106b/25 (miR-17-92 cluster)</a:t>
            </a:r>
            <a:endParaRPr lang="en-US" sz="1200" dirty="0"/>
          </a:p>
        </p:txBody>
      </p:sp>
      <p:sp>
        <p:nvSpPr>
          <p:cNvPr id="19" name="Text 17"/>
          <p:cNvSpPr/>
          <p:nvPr/>
        </p:nvSpPr>
        <p:spPr>
          <a:xfrm>
            <a:off x="7589520" y="4251960"/>
            <a:ext cx="3566160" cy="868680"/>
          </a:xfrm>
          <a:prstGeom prst="rect">
            <a:avLst/>
          </a:prstGeom>
          <a:noFill/>
          <a:ln/>
        </p:spPr>
        <p:txBody>
          <a:bodyPr wrap="square" rtlCol="0" anchor="ctr"/>
          <a:lstStyle/>
          <a:p>
            <a:pPr indent="0" marL="0">
              <a:buNone/>
            </a:pPr>
            <a:r>
              <a:rPr lang="en-US" sz="1200" i="1" dirty="0">
                <a:solidFill>
                  <a:srgbClr val="5B6770"/>
                </a:solidFill>
                <a:latin typeface="Calibri" pitchFamily="34" charset="0"/>
                <a:ea typeface="Calibri" pitchFamily="34" charset="-122"/>
                <a:cs typeface="Calibri" pitchFamily="34" charset="-120"/>
              </a:rPr>
              <a:t>Canonical oncogenic proliferation control</a:t>
            </a:r>
            <a:endParaRPr lang="en-US" sz="1200" dirty="0"/>
          </a:p>
        </p:txBody>
      </p:sp>
      <p:sp>
        <p:nvSpPr>
          <p:cNvPr id="20" name="Shape 18"/>
          <p:cNvSpPr/>
          <p:nvPr/>
        </p:nvSpPr>
        <p:spPr>
          <a:xfrm>
            <a:off x="822960" y="5806440"/>
            <a:ext cx="10515600" cy="777240"/>
          </a:xfrm>
          <a:prstGeom prst="roundRect">
            <a:avLst>
              <a:gd name="adj" fmla="val 7059"/>
            </a:avLst>
          </a:prstGeom>
          <a:solidFill>
            <a:srgbClr val="E6F3F2"/>
          </a:solidFill>
          <a:ln/>
        </p:spPr>
      </p:sp>
      <p:sp>
        <p:nvSpPr>
          <p:cNvPr id="21" name="Text 19"/>
          <p:cNvSpPr/>
          <p:nvPr/>
        </p:nvSpPr>
        <p:spPr>
          <a:xfrm>
            <a:off x="1051560" y="5806440"/>
            <a:ext cx="10058400" cy="777240"/>
          </a:xfrm>
          <a:prstGeom prst="rect">
            <a:avLst/>
          </a:prstGeom>
          <a:noFill/>
          <a:ln/>
        </p:spPr>
        <p:txBody>
          <a:bodyPr wrap="square" rtlCol="0" anchor="ctr"/>
          <a:lstStyle/>
          <a:p>
            <a:pPr indent="0" marL="0">
              <a:buNone/>
            </a:pPr>
            <a:r>
              <a:rPr lang="en-US" sz="1250" b="1" i="1" dirty="0">
                <a:solidFill>
                  <a:srgbClr val="0B3142"/>
                </a:solidFill>
                <a:latin typeface="Calibri" pitchFamily="34" charset="0"/>
                <a:ea typeface="Calibri" pitchFamily="34" charset="-122"/>
                <a:cs typeface="Calibri" pitchFamily="34" charset="-120"/>
              </a:rPr>
              <a:t>Three independent omics layers converging on one biological theme — this convergence, not any single p-value, is what makes Factor 3 our best-supported finding.</a:t>
            </a:r>
            <a:endParaRPr lang="en-US" sz="1250" dirty="0"/>
          </a:p>
        </p:txBody>
      </p:sp>
      <p:sp>
        <p:nvSpPr>
          <p:cNvPr id="22" name="Text 20"/>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770"/>
                </a:solidFill>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28090"/>
          </a:solidFill>
          <a:ln/>
        </p:spPr>
      </p:sp>
      <p:sp>
        <p:nvSpPr>
          <p:cNvPr id="3" name="Text 1"/>
          <p:cNvSpPr/>
          <p:nvPr/>
        </p:nvSpPr>
        <p:spPr>
          <a:xfrm>
            <a:off x="457200" y="411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13</a:t>
            </a:r>
            <a:endParaRPr lang="en-US" sz="1600" dirty="0"/>
          </a:p>
        </p:txBody>
      </p:sp>
      <p:sp>
        <p:nvSpPr>
          <p:cNvPr id="4" name="Text 2"/>
          <p:cNvSpPr/>
          <p:nvPr/>
        </p:nvSpPr>
        <p:spPr>
          <a:xfrm>
            <a:off x="1051560" y="320040"/>
            <a:ext cx="10607040" cy="777240"/>
          </a:xfrm>
          <a:prstGeom prst="rect">
            <a:avLst/>
          </a:prstGeom>
          <a:noFill/>
          <a:ln/>
        </p:spPr>
        <p:txBody>
          <a:bodyPr wrap="square" lIns="0" tIns="0" rIns="0" bIns="0" rtlCol="0" anchor="ctr"/>
          <a:lstStyle/>
          <a:p>
            <a:pPr algn="l" indent="0" marL="0">
              <a:buNone/>
            </a:pPr>
            <a:r>
              <a:rPr lang="en-US" sz="3000" b="1" dirty="0">
                <a:solidFill>
                  <a:srgbClr val="0B3142"/>
                </a:solidFill>
                <a:latin typeface="Cambria" pitchFamily="34" charset="0"/>
                <a:ea typeface="Cambria" pitchFamily="34" charset="-122"/>
                <a:cs typeface="Cambria" pitchFamily="34" charset="-120"/>
              </a:rPr>
              <a:t>How Do These Findings Compare to the Literature?</a:t>
            </a:r>
            <a:endParaRPr lang="en-US" sz="3000" dirty="0"/>
          </a:p>
        </p:txBody>
      </p:sp>
      <p:sp>
        <p:nvSpPr>
          <p:cNvPr id="5" name="Shape 3"/>
          <p:cNvSpPr/>
          <p:nvPr/>
        </p:nvSpPr>
        <p:spPr>
          <a:xfrm>
            <a:off x="640080" y="1280160"/>
            <a:ext cx="10881360" cy="777240"/>
          </a:xfrm>
          <a:prstGeom prst="rect">
            <a:avLst/>
          </a:prstGeom>
          <a:solidFill>
            <a:srgbClr val="028090"/>
          </a:solidFill>
          <a:ln w="6350">
            <a:solidFill>
              <a:srgbClr val="E3E8EA"/>
            </a:solidFill>
            <a:prstDash val="solid"/>
          </a:ln>
        </p:spPr>
      </p:sp>
      <p:sp>
        <p:nvSpPr>
          <p:cNvPr id="6" name="Text 4"/>
          <p:cNvSpPr/>
          <p:nvPr/>
        </p:nvSpPr>
        <p:spPr>
          <a:xfrm>
            <a:off x="777240" y="1280160"/>
            <a:ext cx="3017520" cy="777240"/>
          </a:xfrm>
          <a:prstGeom prst="rect">
            <a:avLst/>
          </a:prstGeom>
          <a:noFill/>
          <a:ln/>
        </p:spPr>
        <p:txBody>
          <a:bodyPr wrap="square"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Finding</a:t>
            </a:r>
            <a:endParaRPr lang="en-US" sz="1150" dirty="0"/>
          </a:p>
        </p:txBody>
      </p:sp>
      <p:sp>
        <p:nvSpPr>
          <p:cNvPr id="7" name="Text 5"/>
          <p:cNvSpPr/>
          <p:nvPr/>
        </p:nvSpPr>
        <p:spPr>
          <a:xfrm>
            <a:off x="4069080" y="1280160"/>
            <a:ext cx="3291840" cy="777240"/>
          </a:xfrm>
          <a:prstGeom prst="rect">
            <a:avLst/>
          </a:prstGeom>
          <a:noFill/>
          <a:ln/>
        </p:spPr>
        <p:txBody>
          <a:bodyPr wrap="square"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Consistent with</a:t>
            </a:r>
            <a:endParaRPr lang="en-US" sz="1150" dirty="0"/>
          </a:p>
        </p:txBody>
      </p:sp>
      <p:sp>
        <p:nvSpPr>
          <p:cNvPr id="8" name="Text 6"/>
          <p:cNvSpPr/>
          <p:nvPr/>
        </p:nvSpPr>
        <p:spPr>
          <a:xfrm>
            <a:off x="7635240" y="1280160"/>
            <a:ext cx="3749040" cy="777240"/>
          </a:xfrm>
          <a:prstGeom prst="rect">
            <a:avLst/>
          </a:prstGeom>
          <a:noFill/>
          <a:ln/>
        </p:spPr>
        <p:txBody>
          <a:bodyPr wrap="square"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Relationship</a:t>
            </a:r>
            <a:endParaRPr lang="en-US" sz="1150" dirty="0"/>
          </a:p>
        </p:txBody>
      </p:sp>
      <p:sp>
        <p:nvSpPr>
          <p:cNvPr id="9" name="Shape 7"/>
          <p:cNvSpPr/>
          <p:nvPr/>
        </p:nvSpPr>
        <p:spPr>
          <a:xfrm>
            <a:off x="640080" y="2057400"/>
            <a:ext cx="10881360" cy="777240"/>
          </a:xfrm>
          <a:prstGeom prst="rect">
            <a:avLst/>
          </a:prstGeom>
          <a:solidFill>
            <a:srgbClr val="FFFFFF"/>
          </a:solidFill>
          <a:ln w="6350">
            <a:solidFill>
              <a:srgbClr val="E3E8EA"/>
            </a:solidFill>
            <a:prstDash val="solid"/>
          </a:ln>
        </p:spPr>
      </p:sp>
      <p:sp>
        <p:nvSpPr>
          <p:cNvPr id="10" name="Text 8"/>
          <p:cNvSpPr/>
          <p:nvPr/>
        </p:nvSpPr>
        <p:spPr>
          <a:xfrm>
            <a:off x="777240" y="2057400"/>
            <a:ext cx="3017520" cy="777240"/>
          </a:xfrm>
          <a:prstGeom prst="rect">
            <a:avLst/>
          </a:prstGeom>
          <a:noFill/>
          <a:ln/>
        </p:spPr>
        <p:txBody>
          <a:bodyPr wrap="square" rtlCol="0" anchor="ctr"/>
          <a:lstStyle/>
          <a:p>
            <a:pPr algn="l" indent="0" marL="0">
              <a:buNone/>
            </a:pPr>
            <a:r>
              <a:rPr lang="en-US" sz="1150" dirty="0">
                <a:solidFill>
                  <a:srgbClr val="1A1A1A"/>
                </a:solidFill>
                <a:latin typeface="Calibri" pitchFamily="34" charset="0"/>
                <a:ea typeface="Calibri" pitchFamily="34" charset="-122"/>
                <a:cs typeface="Calibri" pitchFamily="34" charset="-120"/>
              </a:rPr>
              <a:t>EGFR up in EGFR-mut tumors</a:t>
            </a:r>
            <a:endParaRPr lang="en-US" sz="1150" dirty="0"/>
          </a:p>
        </p:txBody>
      </p:sp>
      <p:sp>
        <p:nvSpPr>
          <p:cNvPr id="11" name="Text 9"/>
          <p:cNvSpPr/>
          <p:nvPr/>
        </p:nvSpPr>
        <p:spPr>
          <a:xfrm>
            <a:off x="4069080" y="2057400"/>
            <a:ext cx="3291840" cy="777240"/>
          </a:xfrm>
          <a:prstGeom prst="rect">
            <a:avLst/>
          </a:prstGeom>
          <a:noFill/>
          <a:ln/>
        </p:spPr>
        <p:txBody>
          <a:bodyPr wrap="square" rtlCol="0" anchor="ctr"/>
          <a:lstStyle/>
          <a:p>
            <a:pPr algn="l" indent="0" marL="0">
              <a:buNone/>
            </a:pPr>
            <a:r>
              <a:rPr lang="en-US" sz="1150" dirty="0">
                <a:solidFill>
                  <a:srgbClr val="1A1A1A"/>
                </a:solidFill>
                <a:latin typeface="Calibri" pitchFamily="34" charset="0"/>
                <a:ea typeface="Calibri" pitchFamily="34" charset="-122"/>
                <a:cs typeface="Calibri" pitchFamily="34" charset="-120"/>
              </a:rPr>
              <a:t>Brennan et al. 2013; Wang et al. 2021</a:t>
            </a:r>
            <a:endParaRPr lang="en-US" sz="1150" dirty="0"/>
          </a:p>
        </p:txBody>
      </p:sp>
      <p:sp>
        <p:nvSpPr>
          <p:cNvPr id="12" name="Text 10"/>
          <p:cNvSpPr/>
          <p:nvPr/>
        </p:nvSpPr>
        <p:spPr>
          <a:xfrm>
            <a:off x="7635240" y="2057400"/>
            <a:ext cx="3749040" cy="777240"/>
          </a:xfrm>
          <a:prstGeom prst="rect">
            <a:avLst/>
          </a:prstGeom>
          <a:noFill/>
          <a:ln/>
        </p:spPr>
        <p:txBody>
          <a:bodyPr wrap="square" rtlCol="0" anchor="ctr"/>
          <a:lstStyle/>
          <a:p>
            <a:pPr algn="l" indent="0" marL="0">
              <a:buNone/>
            </a:pPr>
            <a:r>
              <a:rPr lang="en-US" sz="1150" dirty="0">
                <a:solidFill>
                  <a:srgbClr val="1A1A1A"/>
                </a:solidFill>
                <a:latin typeface="Calibri" pitchFamily="34" charset="0"/>
                <a:ea typeface="Calibri" pitchFamily="34" charset="-122"/>
                <a:cs typeface="Calibri" pitchFamily="34" charset="-120"/>
              </a:rPr>
              <a:t>Confirms known GBM biology (positive control)</a:t>
            </a:r>
            <a:endParaRPr lang="en-US" sz="1150" dirty="0"/>
          </a:p>
        </p:txBody>
      </p:sp>
      <p:sp>
        <p:nvSpPr>
          <p:cNvPr id="13" name="Shape 11"/>
          <p:cNvSpPr/>
          <p:nvPr/>
        </p:nvSpPr>
        <p:spPr>
          <a:xfrm>
            <a:off x="640080" y="2834640"/>
            <a:ext cx="10881360" cy="777240"/>
          </a:xfrm>
          <a:prstGeom prst="rect">
            <a:avLst/>
          </a:prstGeom>
          <a:solidFill>
            <a:srgbClr val="F4F7F8"/>
          </a:solidFill>
          <a:ln w="6350">
            <a:solidFill>
              <a:srgbClr val="E3E8EA"/>
            </a:solidFill>
            <a:prstDash val="solid"/>
          </a:ln>
        </p:spPr>
      </p:sp>
      <p:sp>
        <p:nvSpPr>
          <p:cNvPr id="14" name="Text 12"/>
          <p:cNvSpPr/>
          <p:nvPr/>
        </p:nvSpPr>
        <p:spPr>
          <a:xfrm>
            <a:off x="777240" y="2834640"/>
            <a:ext cx="3017520" cy="777240"/>
          </a:xfrm>
          <a:prstGeom prst="rect">
            <a:avLst/>
          </a:prstGeom>
          <a:noFill/>
          <a:ln/>
        </p:spPr>
        <p:txBody>
          <a:bodyPr wrap="square" rtlCol="0" anchor="ctr"/>
          <a:lstStyle/>
          <a:p>
            <a:pPr algn="l" indent="0" marL="0">
              <a:buNone/>
            </a:pPr>
            <a:r>
              <a:rPr lang="en-US" sz="1150" dirty="0">
                <a:solidFill>
                  <a:srgbClr val="1A1A1A"/>
                </a:solidFill>
                <a:latin typeface="Calibri" pitchFamily="34" charset="0"/>
                <a:ea typeface="Calibri" pitchFamily="34" charset="-122"/>
                <a:cs typeface="Calibri" pitchFamily="34" charset="-120"/>
              </a:rPr>
              <a:t>Factor 3: SWI/SNF + miR-17-92</a:t>
            </a:r>
            <a:endParaRPr lang="en-US" sz="1150" dirty="0"/>
          </a:p>
        </p:txBody>
      </p:sp>
      <p:sp>
        <p:nvSpPr>
          <p:cNvPr id="15" name="Text 13"/>
          <p:cNvSpPr/>
          <p:nvPr/>
        </p:nvSpPr>
        <p:spPr>
          <a:xfrm>
            <a:off x="4069080" y="2834640"/>
            <a:ext cx="3291840" cy="777240"/>
          </a:xfrm>
          <a:prstGeom prst="rect">
            <a:avLst/>
          </a:prstGeom>
          <a:noFill/>
          <a:ln/>
        </p:spPr>
        <p:txBody>
          <a:bodyPr wrap="square" rtlCol="0" anchor="ctr"/>
          <a:lstStyle/>
          <a:p>
            <a:pPr algn="l" indent="0" marL="0">
              <a:buNone/>
            </a:pPr>
            <a:r>
              <a:rPr lang="en-US" sz="1150" dirty="0">
                <a:solidFill>
                  <a:srgbClr val="1A1A1A"/>
                </a:solidFill>
                <a:latin typeface="Calibri" pitchFamily="34" charset="0"/>
                <a:ea typeface="Calibri" pitchFamily="34" charset="-122"/>
                <a:cs typeface="Calibri" pitchFamily="34" charset="-120"/>
              </a:rPr>
              <a:t>He et al. 2005 (Nature)</a:t>
            </a:r>
            <a:endParaRPr lang="en-US" sz="1150" dirty="0"/>
          </a:p>
        </p:txBody>
      </p:sp>
      <p:sp>
        <p:nvSpPr>
          <p:cNvPr id="16" name="Text 14"/>
          <p:cNvSpPr/>
          <p:nvPr/>
        </p:nvSpPr>
        <p:spPr>
          <a:xfrm>
            <a:off x="7635240" y="2834640"/>
            <a:ext cx="3749040" cy="777240"/>
          </a:xfrm>
          <a:prstGeom prst="rect">
            <a:avLst/>
          </a:prstGeom>
          <a:noFill/>
          <a:ln/>
        </p:spPr>
        <p:txBody>
          <a:bodyPr wrap="square" rtlCol="0" anchor="ctr"/>
          <a:lstStyle/>
          <a:p>
            <a:pPr algn="l" indent="0" marL="0">
              <a:buNone/>
            </a:pPr>
            <a:r>
              <a:rPr lang="en-US" sz="1150" dirty="0">
                <a:solidFill>
                  <a:srgbClr val="1A1A1A"/>
                </a:solidFill>
                <a:latin typeface="Calibri" pitchFamily="34" charset="0"/>
                <a:ea typeface="Calibri" pitchFamily="34" charset="-122"/>
                <a:cs typeface="Calibri" pitchFamily="34" charset="-120"/>
              </a:rPr>
              <a:t>First independent MOFA evidence of this specific convergence</a:t>
            </a:r>
            <a:endParaRPr lang="en-US" sz="1150" dirty="0"/>
          </a:p>
        </p:txBody>
      </p:sp>
      <p:sp>
        <p:nvSpPr>
          <p:cNvPr id="17" name="Shape 15"/>
          <p:cNvSpPr/>
          <p:nvPr/>
        </p:nvSpPr>
        <p:spPr>
          <a:xfrm>
            <a:off x="640080" y="3611880"/>
            <a:ext cx="10881360" cy="777240"/>
          </a:xfrm>
          <a:prstGeom prst="rect">
            <a:avLst/>
          </a:prstGeom>
          <a:solidFill>
            <a:srgbClr val="FFFFFF"/>
          </a:solidFill>
          <a:ln w="6350">
            <a:solidFill>
              <a:srgbClr val="E3E8EA"/>
            </a:solidFill>
            <a:prstDash val="solid"/>
          </a:ln>
        </p:spPr>
      </p:sp>
      <p:sp>
        <p:nvSpPr>
          <p:cNvPr id="18" name="Text 16"/>
          <p:cNvSpPr/>
          <p:nvPr/>
        </p:nvSpPr>
        <p:spPr>
          <a:xfrm>
            <a:off x="777240" y="3611880"/>
            <a:ext cx="3017520" cy="777240"/>
          </a:xfrm>
          <a:prstGeom prst="rect">
            <a:avLst/>
          </a:prstGeom>
          <a:noFill/>
          <a:ln/>
        </p:spPr>
        <p:txBody>
          <a:bodyPr wrap="square" rtlCol="0" anchor="ctr"/>
          <a:lstStyle/>
          <a:p>
            <a:pPr algn="l" indent="0" marL="0">
              <a:buNone/>
            </a:pPr>
            <a:r>
              <a:rPr lang="en-US" sz="1150" dirty="0">
                <a:solidFill>
                  <a:srgbClr val="1A1A1A"/>
                </a:solidFill>
                <a:latin typeface="Calibri" pitchFamily="34" charset="0"/>
                <a:ea typeface="Calibri" pitchFamily="34" charset="-122"/>
                <a:cs typeface="Calibri" pitchFamily="34" charset="-120"/>
              </a:rPr>
              <a:t>Factor 3: IL13RA1 signature</a:t>
            </a:r>
            <a:endParaRPr lang="en-US" sz="1150" dirty="0"/>
          </a:p>
        </p:txBody>
      </p:sp>
      <p:sp>
        <p:nvSpPr>
          <p:cNvPr id="19" name="Text 17"/>
          <p:cNvSpPr/>
          <p:nvPr/>
        </p:nvSpPr>
        <p:spPr>
          <a:xfrm>
            <a:off x="4069080" y="3611880"/>
            <a:ext cx="3291840" cy="777240"/>
          </a:xfrm>
          <a:prstGeom prst="rect">
            <a:avLst/>
          </a:prstGeom>
          <a:noFill/>
          <a:ln/>
        </p:spPr>
        <p:txBody>
          <a:bodyPr wrap="square" rtlCol="0" anchor="ctr"/>
          <a:lstStyle/>
          <a:p>
            <a:pPr algn="l" indent="0" marL="0">
              <a:buNone/>
            </a:pPr>
            <a:r>
              <a:rPr lang="en-US" sz="1150" dirty="0">
                <a:solidFill>
                  <a:srgbClr val="1A1A1A"/>
                </a:solidFill>
                <a:latin typeface="Calibri" pitchFamily="34" charset="0"/>
                <a:ea typeface="Calibri" pitchFamily="34" charset="-122"/>
                <a:cs typeface="Calibri" pitchFamily="34" charset="-120"/>
              </a:rPr>
              <a:t>Brown et al. 2016 (NEJM)</a:t>
            </a:r>
            <a:endParaRPr lang="en-US" sz="1150" dirty="0"/>
          </a:p>
        </p:txBody>
      </p:sp>
      <p:sp>
        <p:nvSpPr>
          <p:cNvPr id="20" name="Text 18"/>
          <p:cNvSpPr/>
          <p:nvPr/>
        </p:nvSpPr>
        <p:spPr>
          <a:xfrm>
            <a:off x="7635240" y="3611880"/>
            <a:ext cx="3749040" cy="777240"/>
          </a:xfrm>
          <a:prstGeom prst="rect">
            <a:avLst/>
          </a:prstGeom>
          <a:noFill/>
          <a:ln/>
        </p:spPr>
        <p:txBody>
          <a:bodyPr wrap="square" rtlCol="0" anchor="ctr"/>
          <a:lstStyle/>
          <a:p>
            <a:pPr algn="l" indent="0" marL="0">
              <a:buNone/>
            </a:pPr>
            <a:r>
              <a:rPr lang="en-US" sz="1150" dirty="0">
                <a:solidFill>
                  <a:srgbClr val="1A1A1A"/>
                </a:solidFill>
                <a:latin typeface="Calibri" pitchFamily="34" charset="0"/>
                <a:ea typeface="Calibri" pitchFamily="34" charset="-122"/>
                <a:cs typeface="Calibri" pitchFamily="34" charset="-120"/>
              </a:rPr>
              <a:t>Connects to an active GBM immunotherapy target family</a:t>
            </a:r>
            <a:endParaRPr lang="en-US" sz="1150" dirty="0"/>
          </a:p>
        </p:txBody>
      </p:sp>
      <p:sp>
        <p:nvSpPr>
          <p:cNvPr id="21" name="Shape 19"/>
          <p:cNvSpPr/>
          <p:nvPr/>
        </p:nvSpPr>
        <p:spPr>
          <a:xfrm>
            <a:off x="640080" y="4389120"/>
            <a:ext cx="10881360" cy="777240"/>
          </a:xfrm>
          <a:prstGeom prst="rect">
            <a:avLst/>
          </a:prstGeom>
          <a:solidFill>
            <a:srgbClr val="F4F7F8"/>
          </a:solidFill>
          <a:ln w="6350">
            <a:solidFill>
              <a:srgbClr val="E3E8EA"/>
            </a:solidFill>
            <a:prstDash val="solid"/>
          </a:ln>
        </p:spPr>
      </p:sp>
      <p:sp>
        <p:nvSpPr>
          <p:cNvPr id="22" name="Text 20"/>
          <p:cNvSpPr/>
          <p:nvPr/>
        </p:nvSpPr>
        <p:spPr>
          <a:xfrm>
            <a:off x="777240" y="4389120"/>
            <a:ext cx="3017520" cy="777240"/>
          </a:xfrm>
          <a:prstGeom prst="rect">
            <a:avLst/>
          </a:prstGeom>
          <a:noFill/>
          <a:ln/>
        </p:spPr>
        <p:txBody>
          <a:bodyPr wrap="square" rtlCol="0" anchor="ctr"/>
          <a:lstStyle/>
          <a:p>
            <a:pPr algn="l" indent="0" marL="0">
              <a:buNone/>
            </a:pPr>
            <a:r>
              <a:rPr lang="en-US" sz="1150" dirty="0">
                <a:solidFill>
                  <a:srgbClr val="1A1A1A"/>
                </a:solidFill>
                <a:latin typeface="Calibri" pitchFamily="34" charset="0"/>
                <a:ea typeface="Calibri" pitchFamily="34" charset="-122"/>
                <a:cs typeface="Calibri" pitchFamily="34" charset="-120"/>
              </a:rPr>
              <a:t>Factor 2: miR-21, miR-124</a:t>
            </a:r>
            <a:endParaRPr lang="en-US" sz="1150" dirty="0"/>
          </a:p>
        </p:txBody>
      </p:sp>
      <p:sp>
        <p:nvSpPr>
          <p:cNvPr id="23" name="Text 21"/>
          <p:cNvSpPr/>
          <p:nvPr/>
        </p:nvSpPr>
        <p:spPr>
          <a:xfrm>
            <a:off x="4069080" y="4389120"/>
            <a:ext cx="3291840" cy="777240"/>
          </a:xfrm>
          <a:prstGeom prst="rect">
            <a:avLst/>
          </a:prstGeom>
          <a:noFill/>
          <a:ln/>
        </p:spPr>
        <p:txBody>
          <a:bodyPr wrap="square" rtlCol="0" anchor="ctr"/>
          <a:lstStyle/>
          <a:p>
            <a:pPr algn="l" indent="0" marL="0">
              <a:buNone/>
            </a:pPr>
            <a:r>
              <a:rPr lang="en-US" sz="1150" dirty="0">
                <a:solidFill>
                  <a:srgbClr val="1A1A1A"/>
                </a:solidFill>
                <a:latin typeface="Calibri" pitchFamily="34" charset="0"/>
                <a:ea typeface="Calibri" pitchFamily="34" charset="-122"/>
                <a:cs typeface="Calibri" pitchFamily="34" charset="-120"/>
              </a:rPr>
              <a:t>Chan et al. 2005 (Cancer Research)</a:t>
            </a:r>
            <a:endParaRPr lang="en-US" sz="1150" dirty="0"/>
          </a:p>
        </p:txBody>
      </p:sp>
      <p:sp>
        <p:nvSpPr>
          <p:cNvPr id="24" name="Text 22"/>
          <p:cNvSpPr/>
          <p:nvPr/>
        </p:nvSpPr>
        <p:spPr>
          <a:xfrm>
            <a:off x="7635240" y="4389120"/>
            <a:ext cx="3749040" cy="777240"/>
          </a:xfrm>
          <a:prstGeom prst="rect">
            <a:avLst/>
          </a:prstGeom>
          <a:noFill/>
          <a:ln/>
        </p:spPr>
        <p:txBody>
          <a:bodyPr wrap="square" rtlCol="0" anchor="ctr"/>
          <a:lstStyle/>
          <a:p>
            <a:pPr algn="l" indent="0" marL="0">
              <a:buNone/>
            </a:pPr>
            <a:r>
              <a:rPr lang="en-US" sz="1150" dirty="0">
                <a:solidFill>
                  <a:srgbClr val="1A1A1A"/>
                </a:solidFill>
                <a:latin typeface="Calibri" pitchFamily="34" charset="0"/>
                <a:ea typeface="Calibri" pitchFamily="34" charset="-122"/>
                <a:cs typeface="Calibri" pitchFamily="34" charset="-120"/>
              </a:rPr>
              <a:t>Reproduces the best-known glioma oncomiR</a:t>
            </a:r>
            <a:endParaRPr lang="en-US" sz="1150" dirty="0"/>
          </a:p>
        </p:txBody>
      </p:sp>
      <p:sp>
        <p:nvSpPr>
          <p:cNvPr id="25" name="Shape 23"/>
          <p:cNvSpPr/>
          <p:nvPr/>
        </p:nvSpPr>
        <p:spPr>
          <a:xfrm>
            <a:off x="640080" y="5166360"/>
            <a:ext cx="10881360" cy="777240"/>
          </a:xfrm>
          <a:prstGeom prst="rect">
            <a:avLst/>
          </a:prstGeom>
          <a:solidFill>
            <a:srgbClr val="FFFFFF"/>
          </a:solidFill>
          <a:ln w="6350">
            <a:solidFill>
              <a:srgbClr val="E3E8EA"/>
            </a:solidFill>
            <a:prstDash val="solid"/>
          </a:ln>
        </p:spPr>
      </p:sp>
      <p:sp>
        <p:nvSpPr>
          <p:cNvPr id="26" name="Text 24"/>
          <p:cNvSpPr/>
          <p:nvPr/>
        </p:nvSpPr>
        <p:spPr>
          <a:xfrm>
            <a:off x="777240" y="5166360"/>
            <a:ext cx="3017520" cy="777240"/>
          </a:xfrm>
          <a:prstGeom prst="rect">
            <a:avLst/>
          </a:prstGeom>
          <a:noFill/>
          <a:ln/>
        </p:spPr>
        <p:txBody>
          <a:bodyPr wrap="square" rtlCol="0" anchor="ctr"/>
          <a:lstStyle/>
          <a:p>
            <a:pPr algn="l" indent="0" marL="0">
              <a:buNone/>
            </a:pPr>
            <a:r>
              <a:rPr lang="en-US" sz="1150" dirty="0">
                <a:solidFill>
                  <a:srgbClr val="1A1A1A"/>
                </a:solidFill>
                <a:latin typeface="Calibri" pitchFamily="34" charset="0"/>
                <a:ea typeface="Calibri" pitchFamily="34" charset="-122"/>
                <a:cs typeface="Calibri" pitchFamily="34" charset="-120"/>
              </a:rPr>
              <a:t>Factor 1 / ATRX (G-CIMP)</a:t>
            </a:r>
            <a:endParaRPr lang="en-US" sz="1150" dirty="0"/>
          </a:p>
        </p:txBody>
      </p:sp>
      <p:sp>
        <p:nvSpPr>
          <p:cNvPr id="27" name="Text 25"/>
          <p:cNvSpPr/>
          <p:nvPr/>
        </p:nvSpPr>
        <p:spPr>
          <a:xfrm>
            <a:off x="4069080" y="5166360"/>
            <a:ext cx="3291840" cy="777240"/>
          </a:xfrm>
          <a:prstGeom prst="rect">
            <a:avLst/>
          </a:prstGeom>
          <a:noFill/>
          <a:ln/>
        </p:spPr>
        <p:txBody>
          <a:bodyPr wrap="square" rtlCol="0" anchor="ctr"/>
          <a:lstStyle/>
          <a:p>
            <a:pPr algn="l" indent="0" marL="0">
              <a:buNone/>
            </a:pPr>
            <a:r>
              <a:rPr lang="en-US" sz="1150" dirty="0">
                <a:solidFill>
                  <a:srgbClr val="1A1A1A"/>
                </a:solidFill>
                <a:latin typeface="Calibri" pitchFamily="34" charset="0"/>
                <a:ea typeface="Calibri" pitchFamily="34" charset="-122"/>
                <a:cs typeface="Calibri" pitchFamily="34" charset="-120"/>
              </a:rPr>
              <a:t>Noushmehr et al. 2010 (Cancer Cell)</a:t>
            </a:r>
            <a:endParaRPr lang="en-US" sz="1150" dirty="0"/>
          </a:p>
        </p:txBody>
      </p:sp>
      <p:sp>
        <p:nvSpPr>
          <p:cNvPr id="28" name="Text 26"/>
          <p:cNvSpPr/>
          <p:nvPr/>
        </p:nvSpPr>
        <p:spPr>
          <a:xfrm>
            <a:off x="7635240" y="5166360"/>
            <a:ext cx="3749040" cy="777240"/>
          </a:xfrm>
          <a:prstGeom prst="rect">
            <a:avLst/>
          </a:prstGeom>
          <a:noFill/>
          <a:ln/>
        </p:spPr>
        <p:txBody>
          <a:bodyPr wrap="square" rtlCol="0" anchor="ctr"/>
          <a:lstStyle/>
          <a:p>
            <a:pPr algn="l" indent="0" marL="0">
              <a:buNone/>
            </a:pPr>
            <a:r>
              <a:rPr lang="en-US" sz="1150" dirty="0">
                <a:solidFill>
                  <a:srgbClr val="1A1A1A"/>
                </a:solidFill>
                <a:latin typeface="Calibri" pitchFamily="34" charset="0"/>
                <a:ea typeface="Calibri" pitchFamily="34" charset="-122"/>
                <a:cs typeface="Calibri" pitchFamily="34" charset="-120"/>
              </a:rPr>
              <a:t>Hypothesis tested — NOT supported by this cohort</a:t>
            </a:r>
            <a:endParaRPr lang="en-US" sz="1150" dirty="0"/>
          </a:p>
        </p:txBody>
      </p:sp>
      <p:sp>
        <p:nvSpPr>
          <p:cNvPr id="29" name="Text 27"/>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770"/>
                </a:solidFill>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3142"/>
        </a:solidFill>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FFFFFF"/>
          </a:solidFill>
          <a:ln/>
        </p:spPr>
      </p:sp>
      <p:sp>
        <p:nvSpPr>
          <p:cNvPr id="3" name="Text 1"/>
          <p:cNvSpPr/>
          <p:nvPr/>
        </p:nvSpPr>
        <p:spPr>
          <a:xfrm>
            <a:off x="457200" y="411480"/>
            <a:ext cx="457200" cy="457200"/>
          </a:xfrm>
          <a:prstGeom prst="rect">
            <a:avLst/>
          </a:prstGeom>
          <a:noFill/>
          <a:ln/>
        </p:spPr>
        <p:txBody>
          <a:bodyPr wrap="square" lIns="0" tIns="0" rIns="0" bIns="0" rtlCol="0" anchor="ctr"/>
          <a:lstStyle/>
          <a:p>
            <a:pPr algn="ctr" indent="0" marL="0">
              <a:buNone/>
            </a:pPr>
            <a:r>
              <a:rPr lang="en-US" sz="1600" b="1" dirty="0">
                <a:solidFill>
                  <a:srgbClr val="0B3142"/>
                </a:solidFill>
                <a:latin typeface="Calibri" pitchFamily="34" charset="0"/>
                <a:ea typeface="Calibri" pitchFamily="34" charset="-122"/>
                <a:cs typeface="Calibri" pitchFamily="34" charset="-120"/>
              </a:rPr>
              <a:t>14</a:t>
            </a:r>
            <a:endParaRPr lang="en-US" sz="1600" dirty="0"/>
          </a:p>
        </p:txBody>
      </p:sp>
      <p:sp>
        <p:nvSpPr>
          <p:cNvPr id="4" name="Text 2"/>
          <p:cNvSpPr/>
          <p:nvPr/>
        </p:nvSpPr>
        <p:spPr>
          <a:xfrm>
            <a:off x="1051560" y="365760"/>
            <a:ext cx="7315200" cy="5943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5" name="Shape 3"/>
          <p:cNvSpPr/>
          <p:nvPr/>
        </p:nvSpPr>
        <p:spPr>
          <a:xfrm>
            <a:off x="1051560" y="1280160"/>
            <a:ext cx="146304" cy="146304"/>
          </a:xfrm>
          <a:prstGeom prst="ellipse">
            <a:avLst/>
          </a:prstGeom>
          <a:solidFill>
            <a:srgbClr val="02C39A"/>
          </a:solidFill>
          <a:ln/>
        </p:spPr>
      </p:sp>
      <p:sp>
        <p:nvSpPr>
          <p:cNvPr id="6" name="Text 4"/>
          <p:cNvSpPr/>
          <p:nvPr/>
        </p:nvSpPr>
        <p:spPr>
          <a:xfrm>
            <a:off x="1371600" y="1124712"/>
            <a:ext cx="96926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MOFA identified two complementary findings</a:t>
            </a:r>
            <a:endParaRPr lang="en-US" sz="1500" dirty="0"/>
          </a:p>
        </p:txBody>
      </p:sp>
      <p:sp>
        <p:nvSpPr>
          <p:cNvPr id="7" name="Text 5"/>
          <p:cNvSpPr/>
          <p:nvPr/>
        </p:nvSpPr>
        <p:spPr>
          <a:xfrm>
            <a:off x="1371600" y="1463040"/>
            <a:ext cx="9692640" cy="502920"/>
          </a:xfrm>
          <a:prstGeom prst="rect">
            <a:avLst/>
          </a:prstGeom>
          <a:noFill/>
          <a:ln/>
        </p:spPr>
        <p:txBody>
          <a:bodyPr wrap="square" rtlCol="0" anchor="ctr"/>
          <a:lstStyle/>
          <a:p>
            <a:pPr indent="0" marL="0">
              <a:buNone/>
            </a:pPr>
            <a:r>
              <a:rPr lang="en-US" sz="1250" dirty="0">
                <a:solidFill>
                  <a:srgbClr val="B9CDD3"/>
                </a:solidFill>
                <a:latin typeface="Calibri" pitchFamily="34" charset="0"/>
                <a:ea typeface="Calibri" pitchFamily="34" charset="-122"/>
                <a:cs typeface="Calibri" pitchFamily="34" charset="-120"/>
              </a:rPr>
              <a:t>Factor 1 (statistically significant survival predictor) and Factor 3 (biologically coherent, three-omics convergent signature)</a:t>
            </a:r>
            <a:endParaRPr lang="en-US" sz="1250" dirty="0"/>
          </a:p>
        </p:txBody>
      </p:sp>
      <p:sp>
        <p:nvSpPr>
          <p:cNvPr id="8" name="Shape 6"/>
          <p:cNvSpPr/>
          <p:nvPr/>
        </p:nvSpPr>
        <p:spPr>
          <a:xfrm>
            <a:off x="1051560" y="2450592"/>
            <a:ext cx="146304" cy="146304"/>
          </a:xfrm>
          <a:prstGeom prst="ellipse">
            <a:avLst/>
          </a:prstGeom>
          <a:solidFill>
            <a:srgbClr val="02C39A"/>
          </a:solidFill>
          <a:ln/>
        </p:spPr>
      </p:sp>
      <p:sp>
        <p:nvSpPr>
          <p:cNvPr id="9" name="Text 7"/>
          <p:cNvSpPr/>
          <p:nvPr/>
        </p:nvSpPr>
        <p:spPr>
          <a:xfrm>
            <a:off x="1371600" y="2295144"/>
            <a:ext cx="96926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Pipeline validity confirmed</a:t>
            </a:r>
            <a:endParaRPr lang="en-US" sz="1500" dirty="0"/>
          </a:p>
        </p:txBody>
      </p:sp>
      <p:sp>
        <p:nvSpPr>
          <p:cNvPr id="10" name="Text 8"/>
          <p:cNvSpPr/>
          <p:nvPr/>
        </p:nvSpPr>
        <p:spPr>
          <a:xfrm>
            <a:off x="1371600" y="2633472"/>
            <a:ext cx="9692640" cy="502920"/>
          </a:xfrm>
          <a:prstGeom prst="rect">
            <a:avLst/>
          </a:prstGeom>
          <a:noFill/>
          <a:ln/>
        </p:spPr>
        <p:txBody>
          <a:bodyPr wrap="square" rtlCol="0" anchor="ctr"/>
          <a:lstStyle/>
          <a:p>
            <a:pPr indent="0" marL="0">
              <a:buNone/>
            </a:pPr>
            <a:r>
              <a:rPr lang="en-US" sz="1250" dirty="0">
                <a:solidFill>
                  <a:srgbClr val="B9CDD3"/>
                </a:solidFill>
                <a:latin typeface="Calibri" pitchFamily="34" charset="0"/>
                <a:ea typeface="Calibri" pitchFamily="34" charset="-122"/>
                <a:cs typeface="Calibri" pitchFamily="34" charset="-120"/>
              </a:rPr>
              <a:t>RNA-seq DE correctly recovered EGFR as the top hit in EGFR-mutant tumors — a clean positive control</a:t>
            </a:r>
            <a:endParaRPr lang="en-US" sz="1250" dirty="0"/>
          </a:p>
        </p:txBody>
      </p:sp>
      <p:sp>
        <p:nvSpPr>
          <p:cNvPr id="11" name="Shape 9"/>
          <p:cNvSpPr/>
          <p:nvPr/>
        </p:nvSpPr>
        <p:spPr>
          <a:xfrm>
            <a:off x="1051560" y="3621024"/>
            <a:ext cx="146304" cy="146304"/>
          </a:xfrm>
          <a:prstGeom prst="ellipse">
            <a:avLst/>
          </a:prstGeom>
          <a:solidFill>
            <a:srgbClr val="02C39A"/>
          </a:solidFill>
          <a:ln/>
        </p:spPr>
      </p:sp>
      <p:sp>
        <p:nvSpPr>
          <p:cNvPr id="12" name="Text 10"/>
          <p:cNvSpPr/>
          <p:nvPr/>
        </p:nvSpPr>
        <p:spPr>
          <a:xfrm>
            <a:off x="1371600" y="3465576"/>
            <a:ext cx="96926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Honest limitation, not overclaiming</a:t>
            </a:r>
            <a:endParaRPr lang="en-US" sz="1500" dirty="0"/>
          </a:p>
        </p:txBody>
      </p:sp>
      <p:sp>
        <p:nvSpPr>
          <p:cNvPr id="13" name="Text 11"/>
          <p:cNvSpPr/>
          <p:nvPr/>
        </p:nvSpPr>
        <p:spPr>
          <a:xfrm>
            <a:off x="1371600" y="3803904"/>
            <a:ext cx="9692640" cy="502920"/>
          </a:xfrm>
          <a:prstGeom prst="rect">
            <a:avLst/>
          </a:prstGeom>
          <a:noFill/>
          <a:ln/>
        </p:spPr>
        <p:txBody>
          <a:bodyPr wrap="square" rtlCol="0" anchor="ctr"/>
          <a:lstStyle/>
          <a:p>
            <a:pPr indent="0" marL="0">
              <a:buNone/>
            </a:pPr>
            <a:r>
              <a:rPr lang="en-US" sz="1250" dirty="0">
                <a:solidFill>
                  <a:srgbClr val="B9CDD3"/>
                </a:solidFill>
                <a:latin typeface="Calibri" pitchFamily="34" charset="0"/>
                <a:ea typeface="Calibri" pitchFamily="34" charset="-122"/>
                <a:cs typeface="Calibri" pitchFamily="34" charset="-120"/>
              </a:rPr>
              <a:t>Factor 1's survival association is tempered by consistent outlier evidence across all 4 continuous omics views — flagged as requiring validation</a:t>
            </a:r>
            <a:endParaRPr lang="en-US" sz="1250" dirty="0"/>
          </a:p>
        </p:txBody>
      </p:sp>
      <p:sp>
        <p:nvSpPr>
          <p:cNvPr id="14" name="Shape 12"/>
          <p:cNvSpPr/>
          <p:nvPr/>
        </p:nvSpPr>
        <p:spPr>
          <a:xfrm>
            <a:off x="1051560" y="4791456"/>
            <a:ext cx="146304" cy="146304"/>
          </a:xfrm>
          <a:prstGeom prst="ellipse">
            <a:avLst/>
          </a:prstGeom>
          <a:solidFill>
            <a:srgbClr val="02C39A"/>
          </a:solidFill>
          <a:ln/>
        </p:spPr>
      </p:sp>
      <p:sp>
        <p:nvSpPr>
          <p:cNvPr id="15" name="Text 13"/>
          <p:cNvSpPr/>
          <p:nvPr/>
        </p:nvSpPr>
        <p:spPr>
          <a:xfrm>
            <a:off x="1371600" y="4636008"/>
            <a:ext cx="96926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Strongest biological result</a:t>
            </a:r>
            <a:endParaRPr lang="en-US" sz="1500" dirty="0"/>
          </a:p>
        </p:txBody>
      </p:sp>
      <p:sp>
        <p:nvSpPr>
          <p:cNvPr id="16" name="Text 14"/>
          <p:cNvSpPr/>
          <p:nvPr/>
        </p:nvSpPr>
        <p:spPr>
          <a:xfrm>
            <a:off x="1371600" y="4974336"/>
            <a:ext cx="9692640" cy="502920"/>
          </a:xfrm>
          <a:prstGeom prst="rect">
            <a:avLst/>
          </a:prstGeom>
          <a:noFill/>
          <a:ln/>
        </p:spPr>
        <p:txBody>
          <a:bodyPr wrap="square" rtlCol="0" anchor="ctr"/>
          <a:lstStyle/>
          <a:p>
            <a:pPr indent="0" marL="0">
              <a:buNone/>
            </a:pPr>
            <a:r>
              <a:rPr lang="en-US" sz="1250" dirty="0">
                <a:solidFill>
                  <a:srgbClr val="B9CDD3"/>
                </a:solidFill>
                <a:latin typeface="Calibri" pitchFamily="34" charset="0"/>
                <a:ea typeface="Calibri" pitchFamily="34" charset="-122"/>
                <a:cs typeface="Calibri" pitchFamily="34" charset="-120"/>
              </a:rPr>
              <a:t>Factor 3 converges on chromatin regulation, immune signaling, and the miR-17-92 oncogenic cluster — independent of the Factor 1 outlier concern</a:t>
            </a:r>
            <a:endParaRPr lang="en-US" sz="1250" dirty="0"/>
          </a:p>
        </p:txBody>
      </p:sp>
      <p:sp>
        <p:nvSpPr>
          <p:cNvPr id="17" name="Text 15"/>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770"/>
                </a:solidFill>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28090"/>
          </a:solidFill>
          <a:ln/>
        </p:spPr>
      </p:sp>
      <p:sp>
        <p:nvSpPr>
          <p:cNvPr id="3" name="Text 1"/>
          <p:cNvSpPr/>
          <p:nvPr/>
        </p:nvSpPr>
        <p:spPr>
          <a:xfrm>
            <a:off x="457200" y="411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15</a:t>
            </a:r>
            <a:endParaRPr lang="en-US" sz="1600" dirty="0"/>
          </a:p>
        </p:txBody>
      </p:sp>
      <p:sp>
        <p:nvSpPr>
          <p:cNvPr id="4" name="Text 2"/>
          <p:cNvSpPr/>
          <p:nvPr/>
        </p:nvSpPr>
        <p:spPr>
          <a:xfrm>
            <a:off x="1051560" y="320040"/>
            <a:ext cx="10607040" cy="777240"/>
          </a:xfrm>
          <a:prstGeom prst="rect">
            <a:avLst/>
          </a:prstGeom>
          <a:noFill/>
          <a:ln/>
        </p:spPr>
        <p:txBody>
          <a:bodyPr wrap="square" lIns="0" tIns="0" rIns="0" bIns="0" rtlCol="0" anchor="ctr"/>
          <a:lstStyle/>
          <a:p>
            <a:pPr algn="l" indent="0" marL="0">
              <a:buNone/>
            </a:pPr>
            <a:r>
              <a:rPr lang="en-US" sz="3000" b="1" dirty="0">
                <a:solidFill>
                  <a:srgbClr val="0B3142"/>
                </a:solidFill>
                <a:latin typeface="Cambria" pitchFamily="34" charset="0"/>
                <a:ea typeface="Cambria" pitchFamily="34" charset="-122"/>
                <a:cs typeface="Cambria" pitchFamily="34" charset="-120"/>
              </a:rPr>
              <a:t>Future Directions</a:t>
            </a:r>
            <a:endParaRPr lang="en-US" sz="3000" dirty="0"/>
          </a:p>
        </p:txBody>
      </p:sp>
      <p:sp>
        <p:nvSpPr>
          <p:cNvPr id="5" name="Shape 3"/>
          <p:cNvSpPr/>
          <p:nvPr/>
        </p:nvSpPr>
        <p:spPr>
          <a:xfrm>
            <a:off x="822960" y="1371600"/>
            <a:ext cx="10515600" cy="713232"/>
          </a:xfrm>
          <a:prstGeom prst="roundRect">
            <a:avLst>
              <a:gd name="adj" fmla="val 7692"/>
            </a:avLst>
          </a:prstGeom>
          <a:solidFill>
            <a:srgbClr val="FDEEE3"/>
          </a:solidFill>
          <a:ln w="15875">
            <a:solidFill>
              <a:srgbClr val="E85D04"/>
            </a:solidFill>
            <a:prstDash val="solid"/>
          </a:ln>
        </p:spPr>
      </p:sp>
      <p:sp>
        <p:nvSpPr>
          <p:cNvPr id="6" name="Text 4"/>
          <p:cNvSpPr/>
          <p:nvPr/>
        </p:nvSpPr>
        <p:spPr>
          <a:xfrm>
            <a:off x="1051560" y="1371600"/>
            <a:ext cx="1828800" cy="713232"/>
          </a:xfrm>
          <a:prstGeom prst="rect">
            <a:avLst/>
          </a:prstGeom>
          <a:noFill/>
          <a:ln/>
        </p:spPr>
        <p:txBody>
          <a:bodyPr wrap="square" rtlCol="0" anchor="ctr"/>
          <a:lstStyle/>
          <a:p>
            <a:pPr indent="0" marL="0">
              <a:buNone/>
            </a:pPr>
            <a:r>
              <a:rPr lang="en-US" sz="1250" b="1" dirty="0">
                <a:solidFill>
                  <a:srgbClr val="E85D04"/>
                </a:solidFill>
                <a:latin typeface="Calibri" pitchFamily="34" charset="0"/>
                <a:ea typeface="Calibri" pitchFamily="34" charset="-122"/>
                <a:cs typeface="Calibri" pitchFamily="34" charset="-120"/>
              </a:rPr>
              <a:t>★ Priority</a:t>
            </a:r>
            <a:endParaRPr lang="en-US" sz="1250" dirty="0"/>
          </a:p>
        </p:txBody>
      </p:sp>
      <p:sp>
        <p:nvSpPr>
          <p:cNvPr id="7" name="Text 5"/>
          <p:cNvSpPr/>
          <p:nvPr/>
        </p:nvSpPr>
        <p:spPr>
          <a:xfrm>
            <a:off x="2926080" y="1371600"/>
            <a:ext cx="8229600" cy="71323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Re-fit variance decomposition + Cox model with Factor 1 outliers excluded — resolves the project's central open question</a:t>
            </a:r>
            <a:endParaRPr lang="en-US" sz="1250" dirty="0"/>
          </a:p>
        </p:txBody>
      </p:sp>
      <p:sp>
        <p:nvSpPr>
          <p:cNvPr id="8" name="Shape 6"/>
          <p:cNvSpPr/>
          <p:nvPr/>
        </p:nvSpPr>
        <p:spPr>
          <a:xfrm>
            <a:off x="822960" y="2212848"/>
            <a:ext cx="10515600" cy="713232"/>
          </a:xfrm>
          <a:prstGeom prst="roundRect">
            <a:avLst>
              <a:gd name="adj" fmla="val 7692"/>
            </a:avLst>
          </a:prstGeom>
          <a:solidFill>
            <a:srgbClr val="F4F7F8"/>
          </a:solidFill>
          <a:ln/>
        </p:spPr>
      </p:sp>
      <p:sp>
        <p:nvSpPr>
          <p:cNvPr id="9" name="Text 7"/>
          <p:cNvSpPr/>
          <p:nvPr/>
        </p:nvSpPr>
        <p:spPr>
          <a:xfrm>
            <a:off x="1051560" y="2212848"/>
            <a:ext cx="1828800" cy="713232"/>
          </a:xfrm>
          <a:prstGeom prst="rect">
            <a:avLst/>
          </a:prstGeom>
          <a:noFill/>
          <a:ln/>
        </p:spPr>
        <p:txBody>
          <a:bodyPr wrap="square"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Validate</a:t>
            </a:r>
            <a:endParaRPr lang="en-US" sz="1250" dirty="0"/>
          </a:p>
        </p:txBody>
      </p:sp>
      <p:sp>
        <p:nvSpPr>
          <p:cNvPr id="10" name="Text 8"/>
          <p:cNvSpPr/>
          <p:nvPr/>
        </p:nvSpPr>
        <p:spPr>
          <a:xfrm>
            <a:off x="2926080" y="2212848"/>
            <a:ext cx="8229600" cy="71323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Test Factor 3's chromatin/immune/miR-17-92 signature in an independent cohort (e.g., TCGA-GBM)</a:t>
            </a:r>
            <a:endParaRPr lang="en-US" sz="1250" dirty="0"/>
          </a:p>
        </p:txBody>
      </p:sp>
      <p:sp>
        <p:nvSpPr>
          <p:cNvPr id="11" name="Shape 9"/>
          <p:cNvSpPr/>
          <p:nvPr/>
        </p:nvSpPr>
        <p:spPr>
          <a:xfrm>
            <a:off x="822960" y="3054096"/>
            <a:ext cx="10515600" cy="713232"/>
          </a:xfrm>
          <a:prstGeom prst="roundRect">
            <a:avLst>
              <a:gd name="adj" fmla="val 7692"/>
            </a:avLst>
          </a:prstGeom>
          <a:solidFill>
            <a:srgbClr val="F4F7F8"/>
          </a:solidFill>
          <a:ln/>
        </p:spPr>
      </p:sp>
      <p:sp>
        <p:nvSpPr>
          <p:cNvPr id="12" name="Text 10"/>
          <p:cNvSpPr/>
          <p:nvPr/>
        </p:nvSpPr>
        <p:spPr>
          <a:xfrm>
            <a:off x="1051560" y="3054096"/>
            <a:ext cx="1828800" cy="713232"/>
          </a:xfrm>
          <a:prstGeom prst="rect">
            <a:avLst/>
          </a:prstGeom>
          <a:noFill/>
          <a:ln/>
        </p:spPr>
        <p:txBody>
          <a:bodyPr wrap="square"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Extend data</a:t>
            </a:r>
            <a:endParaRPr lang="en-US" sz="1250" dirty="0"/>
          </a:p>
        </p:txBody>
      </p:sp>
      <p:sp>
        <p:nvSpPr>
          <p:cNvPr id="13" name="Text 11"/>
          <p:cNvSpPr/>
          <p:nvPr/>
        </p:nvSpPr>
        <p:spPr>
          <a:xfrm>
            <a:off x="2926080" y="3054096"/>
            <a:ext cx="8229600" cy="71323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Incorporate IDH mutation status to directly test the G-CIMP hypothesis raised by Factor 1</a:t>
            </a:r>
            <a:endParaRPr lang="en-US" sz="1250" dirty="0"/>
          </a:p>
        </p:txBody>
      </p:sp>
      <p:sp>
        <p:nvSpPr>
          <p:cNvPr id="14" name="Shape 12"/>
          <p:cNvSpPr/>
          <p:nvPr/>
        </p:nvSpPr>
        <p:spPr>
          <a:xfrm>
            <a:off x="822960" y="3895344"/>
            <a:ext cx="10515600" cy="713232"/>
          </a:xfrm>
          <a:prstGeom prst="roundRect">
            <a:avLst>
              <a:gd name="adj" fmla="val 7692"/>
            </a:avLst>
          </a:prstGeom>
          <a:solidFill>
            <a:srgbClr val="F4F7F8"/>
          </a:solidFill>
          <a:ln/>
        </p:spPr>
      </p:sp>
      <p:sp>
        <p:nvSpPr>
          <p:cNvPr id="15" name="Text 13"/>
          <p:cNvSpPr/>
          <p:nvPr/>
        </p:nvSpPr>
        <p:spPr>
          <a:xfrm>
            <a:off x="1051560" y="3895344"/>
            <a:ext cx="1828800" cy="713232"/>
          </a:xfrm>
          <a:prstGeom prst="rect">
            <a:avLst/>
          </a:prstGeom>
          <a:noFill/>
          <a:ln/>
        </p:spPr>
        <p:txBody>
          <a:bodyPr wrap="square"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Formalize</a:t>
            </a:r>
            <a:endParaRPr lang="en-US" sz="1250" dirty="0"/>
          </a:p>
        </p:txBody>
      </p:sp>
      <p:sp>
        <p:nvSpPr>
          <p:cNvPr id="16" name="Text 14"/>
          <p:cNvSpPr/>
          <p:nvPr/>
        </p:nvSpPr>
        <p:spPr>
          <a:xfrm>
            <a:off x="2926080" y="3895344"/>
            <a:ext cx="8229600" cy="71323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GO/KEGG pathway enrichment + miRNA target prediction (multiMiR) on all DE and factor-weight gene lists</a:t>
            </a:r>
            <a:endParaRPr lang="en-US" sz="1250" dirty="0"/>
          </a:p>
        </p:txBody>
      </p:sp>
      <p:sp>
        <p:nvSpPr>
          <p:cNvPr id="17" name="Shape 15"/>
          <p:cNvSpPr/>
          <p:nvPr/>
        </p:nvSpPr>
        <p:spPr>
          <a:xfrm>
            <a:off x="822960" y="4736592"/>
            <a:ext cx="10515600" cy="713232"/>
          </a:xfrm>
          <a:prstGeom prst="roundRect">
            <a:avLst>
              <a:gd name="adj" fmla="val 7692"/>
            </a:avLst>
          </a:prstGeom>
          <a:solidFill>
            <a:srgbClr val="F4F7F8"/>
          </a:solidFill>
          <a:ln/>
        </p:spPr>
      </p:sp>
      <p:sp>
        <p:nvSpPr>
          <p:cNvPr id="18" name="Text 16"/>
          <p:cNvSpPr/>
          <p:nvPr/>
        </p:nvSpPr>
        <p:spPr>
          <a:xfrm>
            <a:off x="1051560" y="4736592"/>
            <a:ext cx="1828800" cy="713232"/>
          </a:xfrm>
          <a:prstGeom prst="rect">
            <a:avLst/>
          </a:prstGeom>
          <a:noFill/>
          <a:ln/>
        </p:spPr>
        <p:txBody>
          <a:bodyPr wrap="square"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Model upgrade</a:t>
            </a:r>
            <a:endParaRPr lang="en-US" sz="1250" dirty="0"/>
          </a:p>
        </p:txBody>
      </p:sp>
      <p:sp>
        <p:nvSpPr>
          <p:cNvPr id="19" name="Text 17"/>
          <p:cNvSpPr/>
          <p:nvPr/>
        </p:nvSpPr>
        <p:spPr>
          <a:xfrm>
            <a:off x="2926080" y="4736592"/>
            <a:ext cx="8229600" cy="71323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MOFA+ group-wise framework to compare EGFR-mutant vs. wildtype as explicit modeled groups</a:t>
            </a:r>
            <a:endParaRPr lang="en-US" sz="1250" dirty="0"/>
          </a:p>
        </p:txBody>
      </p:sp>
      <p:sp>
        <p:nvSpPr>
          <p:cNvPr id="20" name="Shape 18"/>
          <p:cNvSpPr/>
          <p:nvPr/>
        </p:nvSpPr>
        <p:spPr>
          <a:xfrm>
            <a:off x="822960" y="5577840"/>
            <a:ext cx="10515600" cy="713232"/>
          </a:xfrm>
          <a:prstGeom prst="roundRect">
            <a:avLst>
              <a:gd name="adj" fmla="val 7692"/>
            </a:avLst>
          </a:prstGeom>
          <a:solidFill>
            <a:srgbClr val="F4F7F8"/>
          </a:solidFill>
          <a:ln/>
        </p:spPr>
      </p:sp>
      <p:sp>
        <p:nvSpPr>
          <p:cNvPr id="21" name="Text 19"/>
          <p:cNvSpPr/>
          <p:nvPr/>
        </p:nvSpPr>
        <p:spPr>
          <a:xfrm>
            <a:off x="1051560" y="5577840"/>
            <a:ext cx="1828800" cy="713232"/>
          </a:xfrm>
          <a:prstGeom prst="rect">
            <a:avLst/>
          </a:prstGeom>
          <a:noFill/>
          <a:ln/>
        </p:spPr>
        <p:txBody>
          <a:bodyPr wrap="square"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Functional follow-up</a:t>
            </a:r>
            <a:endParaRPr lang="en-US" sz="1250" dirty="0"/>
          </a:p>
        </p:txBody>
      </p:sp>
      <p:sp>
        <p:nvSpPr>
          <p:cNvPr id="22" name="Text 20"/>
          <p:cNvSpPr/>
          <p:nvPr/>
        </p:nvSpPr>
        <p:spPr>
          <a:xfrm>
            <a:off x="2926080" y="5577840"/>
            <a:ext cx="8229600" cy="71323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Validate miR-17-92 cluster and SWI/SNF subunits in GBM cell line models</a:t>
            </a:r>
            <a:endParaRPr lang="en-US" sz="1250" dirty="0"/>
          </a:p>
        </p:txBody>
      </p:sp>
      <p:sp>
        <p:nvSpPr>
          <p:cNvPr id="23" name="Text 21"/>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770"/>
                </a:solidFill>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28090"/>
          </a:solidFill>
          <a:ln/>
        </p:spPr>
      </p:sp>
      <p:sp>
        <p:nvSpPr>
          <p:cNvPr id="3" name="Text 1"/>
          <p:cNvSpPr/>
          <p:nvPr/>
        </p:nvSpPr>
        <p:spPr>
          <a:xfrm>
            <a:off x="457200" y="411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16</a:t>
            </a:r>
            <a:endParaRPr lang="en-US" sz="1600" dirty="0"/>
          </a:p>
        </p:txBody>
      </p:sp>
      <p:sp>
        <p:nvSpPr>
          <p:cNvPr id="4" name="Text 2"/>
          <p:cNvSpPr/>
          <p:nvPr/>
        </p:nvSpPr>
        <p:spPr>
          <a:xfrm>
            <a:off x="1051560" y="320040"/>
            <a:ext cx="10607040" cy="777240"/>
          </a:xfrm>
          <a:prstGeom prst="rect">
            <a:avLst/>
          </a:prstGeom>
          <a:noFill/>
          <a:ln/>
        </p:spPr>
        <p:txBody>
          <a:bodyPr wrap="square" lIns="0" tIns="0" rIns="0" bIns="0" rtlCol="0" anchor="ctr"/>
          <a:lstStyle/>
          <a:p>
            <a:pPr algn="l" indent="0" marL="0">
              <a:buNone/>
            </a:pPr>
            <a:r>
              <a:rPr lang="en-US" sz="3000" b="1" dirty="0">
                <a:solidFill>
                  <a:srgbClr val="0B3142"/>
                </a:solidFill>
                <a:latin typeface="Cambria" pitchFamily="34" charset="0"/>
                <a:ea typeface="Cambria" pitchFamily="34" charset="-122"/>
                <a:cs typeface="Cambria" pitchFamily="34" charset="-120"/>
              </a:rPr>
              <a:t>References</a:t>
            </a:r>
            <a:endParaRPr lang="en-US" sz="3000" dirty="0"/>
          </a:p>
        </p:txBody>
      </p:sp>
      <p:sp>
        <p:nvSpPr>
          <p:cNvPr id="5" name="Text 3"/>
          <p:cNvSpPr/>
          <p:nvPr/>
        </p:nvSpPr>
        <p:spPr>
          <a:xfrm>
            <a:off x="822960" y="1280160"/>
            <a:ext cx="10515600" cy="5120640"/>
          </a:xfrm>
          <a:prstGeom prst="rect">
            <a:avLst/>
          </a:prstGeom>
          <a:noFill/>
          <a:ln/>
        </p:spPr>
        <p:txBody>
          <a:bodyPr wrap="square" rtlCol="0" anchor="ctr"/>
          <a:lstStyle/>
          <a:p>
            <a:pPr marL="342900" indent="-342900">
              <a:spcAft>
                <a:spcPts val="1400"/>
              </a:spcAft>
              <a:buSzPct val="100000"/>
              <a:buChar char="•"/>
            </a:pPr>
            <a:r>
              <a:rPr lang="en-US" sz="1250" dirty="0">
                <a:solidFill>
                  <a:srgbClr val="1A1A1A"/>
                </a:solidFill>
                <a:latin typeface="Calibri" pitchFamily="34" charset="0"/>
                <a:ea typeface="Calibri" pitchFamily="34" charset="-122"/>
                <a:cs typeface="Calibri" pitchFamily="34" charset="-120"/>
              </a:rPr>
              <a:t>Wang, L.-B., et al. (2021). Proteogenomic and metabolomic characterization of human glioblastoma. Cancer Cell, 39(4), 509–528.</a:t>
            </a:r>
            <a:endParaRPr lang="en-US" sz="1250" dirty="0"/>
          </a:p>
          <a:p>
            <a:pPr marL="342900" indent="-342900">
              <a:spcAft>
                <a:spcPts val="1400"/>
              </a:spcAft>
              <a:buSzPct val="100000"/>
              <a:buChar char="•"/>
            </a:pPr>
            <a:r>
              <a:rPr lang="en-US" sz="1250" dirty="0">
                <a:solidFill>
                  <a:srgbClr val="1A1A1A"/>
                </a:solidFill>
                <a:latin typeface="Calibri" pitchFamily="34" charset="0"/>
                <a:ea typeface="Calibri" pitchFamily="34" charset="-122"/>
                <a:cs typeface="Calibri" pitchFamily="34" charset="-120"/>
              </a:rPr>
              <a:t>Argelaguet, R., et al. (2018). Multi-Omics Factor Analysis — a framework for unsupervised integration of multi-omics data sets. Molecular Systems Biology, 14, e8124.</a:t>
            </a:r>
            <a:endParaRPr lang="en-US" sz="1250" dirty="0"/>
          </a:p>
          <a:p>
            <a:pPr marL="342900" indent="-342900">
              <a:spcAft>
                <a:spcPts val="1400"/>
              </a:spcAft>
              <a:buSzPct val="100000"/>
              <a:buChar char="•"/>
            </a:pPr>
            <a:r>
              <a:rPr lang="en-US" sz="1250" dirty="0">
                <a:solidFill>
                  <a:srgbClr val="1A1A1A"/>
                </a:solidFill>
                <a:latin typeface="Calibri" pitchFamily="34" charset="0"/>
                <a:ea typeface="Calibri" pitchFamily="34" charset="-122"/>
                <a:cs typeface="Calibri" pitchFamily="34" charset="-120"/>
              </a:rPr>
              <a:t>Verhaak, R.G.W., et al. (2010). Integrated genomic analysis identifies clinically relevant subtypes of glioblastoma. Cancer Cell, 17(1), 98–110.</a:t>
            </a:r>
            <a:endParaRPr lang="en-US" sz="1250" dirty="0"/>
          </a:p>
          <a:p>
            <a:pPr marL="342900" indent="-342900">
              <a:spcAft>
                <a:spcPts val="1400"/>
              </a:spcAft>
              <a:buSzPct val="100000"/>
              <a:buChar char="•"/>
            </a:pPr>
            <a:r>
              <a:rPr lang="en-US" sz="1250" dirty="0">
                <a:solidFill>
                  <a:srgbClr val="1A1A1A"/>
                </a:solidFill>
                <a:latin typeface="Calibri" pitchFamily="34" charset="0"/>
                <a:ea typeface="Calibri" pitchFamily="34" charset="-122"/>
                <a:cs typeface="Calibri" pitchFamily="34" charset="-120"/>
              </a:rPr>
              <a:t>Chan, J.A., Krichevsky, A.M., Kosik, K.S. (2005). MicroRNA-21 is an antiapoptotic factor in human glioblastoma cells. Cancer Research, 65(14), 6029–6033.</a:t>
            </a:r>
            <a:endParaRPr lang="en-US" sz="1250" dirty="0"/>
          </a:p>
          <a:p>
            <a:pPr marL="342900" indent="-342900">
              <a:spcAft>
                <a:spcPts val="1400"/>
              </a:spcAft>
              <a:buSzPct val="100000"/>
              <a:buChar char="•"/>
            </a:pPr>
            <a:r>
              <a:rPr lang="en-US" sz="1250" dirty="0">
                <a:solidFill>
                  <a:srgbClr val="1A1A1A"/>
                </a:solidFill>
                <a:latin typeface="Calibri" pitchFamily="34" charset="0"/>
                <a:ea typeface="Calibri" pitchFamily="34" charset="-122"/>
                <a:cs typeface="Calibri" pitchFamily="34" charset="-120"/>
              </a:rPr>
              <a:t>He, L., et al. (2005). A microRNA polycistron as a potential human oncogene. Nature, 435(7043), 828–833.</a:t>
            </a:r>
            <a:endParaRPr lang="en-US" sz="1250" dirty="0"/>
          </a:p>
          <a:p>
            <a:pPr marL="342900" indent="-342900">
              <a:spcAft>
                <a:spcPts val="1400"/>
              </a:spcAft>
              <a:buSzPct val="100000"/>
              <a:buChar char="•"/>
            </a:pPr>
            <a:r>
              <a:rPr lang="en-US" sz="1250" dirty="0">
                <a:solidFill>
                  <a:srgbClr val="1A1A1A"/>
                </a:solidFill>
                <a:latin typeface="Calibri" pitchFamily="34" charset="0"/>
                <a:ea typeface="Calibri" pitchFamily="34" charset="-122"/>
                <a:cs typeface="Calibri" pitchFamily="34" charset="-120"/>
              </a:rPr>
              <a:t>Noushmehr, H., et al. (2010). Identification of a CpG island methylator phenotype that defines a distinct subgroup of glioma. Cancer Cell, 17(5), 510–522.</a:t>
            </a:r>
            <a:endParaRPr lang="en-US" sz="1250" dirty="0"/>
          </a:p>
          <a:p>
            <a:pPr marL="342900" indent="-342900">
              <a:spcAft>
                <a:spcPts val="1400"/>
              </a:spcAft>
              <a:buSzPct val="100000"/>
              <a:buChar char="•"/>
            </a:pPr>
            <a:r>
              <a:rPr lang="en-US" sz="1250" dirty="0">
                <a:solidFill>
                  <a:srgbClr val="1A1A1A"/>
                </a:solidFill>
                <a:latin typeface="Calibri" pitchFamily="34" charset="0"/>
                <a:ea typeface="Calibri" pitchFamily="34" charset="-122"/>
                <a:cs typeface="Calibri" pitchFamily="34" charset="-120"/>
              </a:rPr>
              <a:t>Brown, C.E., et al. (2016). Regression of glioblastoma after chimeric antigen receptor T-cell therapy. New England Journal of Medicine, 375(26), 2561–2569.</a:t>
            </a:r>
            <a:endParaRPr lang="en-US" sz="1250" dirty="0"/>
          </a:p>
        </p:txBody>
      </p:sp>
      <p:sp>
        <p:nvSpPr>
          <p:cNvPr id="6" name="Text 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770"/>
                </a:solidFill>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3142"/>
        </a:solidFill>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028090">
              <a:alpha val="18000"/>
            </a:srgbClr>
          </a:solidFill>
          <a:ln/>
        </p:spPr>
      </p:sp>
      <p:sp>
        <p:nvSpPr>
          <p:cNvPr id="3" name="Text 1"/>
          <p:cNvSpPr/>
          <p:nvPr/>
        </p:nvSpPr>
        <p:spPr>
          <a:xfrm>
            <a:off x="914400" y="2651760"/>
            <a:ext cx="10058400" cy="914400"/>
          </a:xfrm>
          <a:prstGeom prst="rect">
            <a:avLst/>
          </a:prstGeom>
          <a:noFill/>
          <a:ln/>
        </p:spPr>
        <p:txBody>
          <a:bodyPr wrap="square"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Thank You</a:t>
            </a:r>
            <a:endParaRPr lang="en-US" sz="4200" dirty="0"/>
          </a:p>
        </p:txBody>
      </p:sp>
      <p:sp>
        <p:nvSpPr>
          <p:cNvPr id="4" name="Text 2"/>
          <p:cNvSpPr/>
          <p:nvPr/>
        </p:nvSpPr>
        <p:spPr>
          <a:xfrm>
            <a:off x="914400" y="3520440"/>
            <a:ext cx="10058400" cy="548640"/>
          </a:xfrm>
          <a:prstGeom prst="rect">
            <a:avLst/>
          </a:prstGeom>
          <a:noFill/>
          <a:ln/>
        </p:spPr>
        <p:txBody>
          <a:bodyPr wrap="square" rtlCol="0" anchor="ctr"/>
          <a:lstStyle/>
          <a:p>
            <a:pPr indent="0" marL="0">
              <a:buNone/>
            </a:pPr>
            <a:r>
              <a:rPr lang="en-US" sz="1800" i="1" dirty="0">
                <a:solidFill>
                  <a:srgbClr val="02C39A"/>
                </a:solidFill>
                <a:latin typeface="Calibri" pitchFamily="34" charset="0"/>
                <a:ea typeface="Calibri" pitchFamily="34" charset="-122"/>
                <a:cs typeface="Calibri" pitchFamily="34" charset="-120"/>
              </a:rPr>
              <a:t>Questions?</a:t>
            </a:r>
            <a:endParaRPr lang="en-US" sz="1800" dirty="0"/>
          </a:p>
        </p:txBody>
      </p:sp>
      <p:sp>
        <p:nvSpPr>
          <p:cNvPr id="5" name="Text 3"/>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770"/>
                </a:solidFill>
              </a:rPr>
              <a:t>30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2026-09-03T23:25:07Z</dcterms:created>
  <dcterms:modified xsi:type="dcterms:W3CDTF">2026-09-03T23:25:07Z</dcterms:modified>
</cp:coreProperties>
</file>